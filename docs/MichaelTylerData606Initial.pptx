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9" r:id="rId4"/>
  </p:sldMasterIdLst>
  <p:notesMasterIdLst>
    <p:notesMasterId r:id="rId17"/>
  </p:notesMasterIdLst>
  <p:handoutMasterIdLst>
    <p:handoutMasterId r:id="rId18"/>
  </p:handoutMasterIdLst>
  <p:sldIdLst>
    <p:sldId id="256" r:id="rId5"/>
    <p:sldId id="292" r:id="rId6"/>
    <p:sldId id="266" r:id="rId7"/>
    <p:sldId id="295" r:id="rId8"/>
    <p:sldId id="293" r:id="rId9"/>
    <p:sldId id="296" r:id="rId10"/>
    <p:sldId id="297" r:id="rId11"/>
    <p:sldId id="283" r:id="rId12"/>
    <p:sldId id="264" r:id="rId13"/>
    <p:sldId id="289" r:id="rId14"/>
    <p:sldId id="298" r:id="rId15"/>
    <p:sldId id="287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69FA7"/>
    <a:srgbClr val="4653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12C8C85-51F0-491E-9774-3900AFEF0F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5388" autoAdjust="0"/>
  </p:normalViewPr>
  <p:slideViewPr>
    <p:cSldViewPr snapToGrid="0" showGuides="1">
      <p:cViewPr varScale="1">
        <p:scale>
          <a:sx n="118" d="100"/>
          <a:sy n="118" d="100"/>
        </p:scale>
        <p:origin x="198" y="108"/>
      </p:cViewPr>
      <p:guideLst/>
    </p:cSldViewPr>
  </p:slideViewPr>
  <p:outlineViewPr>
    <p:cViewPr>
      <p:scale>
        <a:sx n="33" d="100"/>
        <a:sy n="33" d="100"/>
      </p:scale>
      <p:origin x="0" y="-49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1757"/>
    </p:cViewPr>
  </p:sorterViewPr>
  <p:notesViewPr>
    <p:cSldViewPr snapToGrid="0">
      <p:cViewPr varScale="1">
        <p:scale>
          <a:sx n="58" d="100"/>
          <a:sy n="58" d="100"/>
        </p:scale>
        <p:origin x="3240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4C3C3A6-B337-4D83-9CDB-B9C35780FF7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C79A68-3D73-4695-8C1E-3CDBCB536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97C6B7-F63D-48F8-8C65-A57506B0F13B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F5045C-A7CE-41D4-85C5-0E9ACEEF9B2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9ABD0F-F8EA-4B9F-8647-FC7D4AE3D83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AB78DD-9481-4863-BCCC-946573546DA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50403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09A0FA-2191-4F92-A1E4-6EB4598AC4EC}" type="datetimeFigureOut">
              <a:rPr lang="en-US" smtClean="0"/>
              <a:t>9/17/2026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3359F2-43EF-4812-9DC0-98C0B1A4068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0111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3523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850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6574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93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7043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70271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2895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70239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3359F2-43EF-4812-9DC0-98C0B1A40681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803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4"/>
            <a:ext cx="11298932" cy="3338149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6661567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340864"/>
            <a:ext cx="11029615" cy="36344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957535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2393950"/>
            <a:ext cx="11029615" cy="214746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0148966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194767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6039" y="2228003"/>
            <a:ext cx="5194769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8614927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1" y="2250891"/>
            <a:ext cx="5194769" cy="557784"/>
          </a:xfrm>
        </p:spPr>
        <p:txBody>
          <a:bodyPr anchor="ctr">
            <a:noAutofit/>
          </a:bodyPr>
          <a:lstStyle>
            <a:lvl1pPr marL="0" indent="0"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194766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6039" y="2250892"/>
            <a:ext cx="5194770" cy="553373"/>
          </a:xfrm>
        </p:spPr>
        <p:txBody>
          <a:bodyPr anchor="ctr">
            <a:no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6037" y="2926052"/>
            <a:ext cx="5194771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7491554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2975325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3201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601200"/>
            <a:ext cx="3682723" cy="5815475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7857" y="933450"/>
            <a:ext cx="3031852" cy="1722419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00928" y="1179829"/>
            <a:ext cx="6650991" cy="4658216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7857" y="2836654"/>
            <a:ext cx="3031852" cy="3001392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rgbClr val="FFFFFF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05951" y="6456916"/>
            <a:ext cx="2844799" cy="365125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1192" y="6452590"/>
            <a:ext cx="6917210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58300" y="6456916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989077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641350"/>
            <a:ext cx="11290859" cy="3651249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998148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86436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873301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058151" y="599725"/>
            <a:ext cx="3687316" cy="581695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04200" y="863600"/>
            <a:ext cx="3124200" cy="4807326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863600"/>
            <a:ext cx="7161625" cy="4807326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398872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>
            <a:extLst>
              <a:ext uri="{FF2B5EF4-FFF2-40B4-BE49-F238E27FC236}">
                <a16:creationId xmlns:a16="http://schemas.microsoft.com/office/drawing/2014/main" id="{31937252-EACE-4232-855F-5C47E3F8B08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57200" y="1070901"/>
            <a:ext cx="11265407" cy="1499616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CBA6DBC1-39A1-48A6-8B81-3CD966D06E8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8055" y="3103684"/>
            <a:ext cx="11274551" cy="3287971"/>
          </a:xfrm>
          <a:solidFill>
            <a:schemeClr val="accent2"/>
          </a:solidFill>
        </p:spPr>
        <p:txBody>
          <a:bodyPr anchor="t" anchorCtr="0">
            <a:norm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2819590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926BD44-2224-46FF-A4E7-9C9FFE197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79"/>
            <a:ext cx="3657600" cy="2100851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Content Placeholder 5">
            <a:extLst>
              <a:ext uri="{FF2B5EF4-FFF2-40B4-BE49-F238E27FC236}">
                <a16:creationId xmlns:a16="http://schemas.microsoft.com/office/drawing/2014/main" id="{FC87D77D-2EA4-028B-1ACF-E1120CE8F0E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57201" y="2862470"/>
            <a:ext cx="3657600" cy="3510898"/>
          </a:xfrm>
        </p:spPr>
        <p:txBody>
          <a:bodyPr anchor="t" anchorCtr="0">
            <a:norm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CFA45C0-9EBE-13AF-9B5D-9D5F4BF223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42815" y="640080"/>
            <a:ext cx="7491984" cy="5751576"/>
          </a:xfrm>
          <a:custGeom>
            <a:avLst/>
            <a:gdLst>
              <a:gd name="connsiteX0" fmla="*/ 3800341 w 7491984"/>
              <a:gd name="connsiteY0" fmla="*/ 0 h 5751576"/>
              <a:gd name="connsiteX1" fmla="*/ 7491984 w 7491984"/>
              <a:gd name="connsiteY1" fmla="*/ 0 h 5751576"/>
              <a:gd name="connsiteX2" fmla="*/ 7491984 w 7491984"/>
              <a:gd name="connsiteY2" fmla="*/ 5751576 h 5751576"/>
              <a:gd name="connsiteX3" fmla="*/ 3800341 w 7491984"/>
              <a:gd name="connsiteY3" fmla="*/ 5751576 h 5751576"/>
              <a:gd name="connsiteX4" fmla="*/ 0 w 7491984"/>
              <a:gd name="connsiteY4" fmla="*/ 0 h 5751576"/>
              <a:gd name="connsiteX5" fmla="*/ 3696432 w 7491984"/>
              <a:gd name="connsiteY5" fmla="*/ 0 h 5751576"/>
              <a:gd name="connsiteX6" fmla="*/ 3696432 w 7491984"/>
              <a:gd name="connsiteY6" fmla="*/ 5751576 h 5751576"/>
              <a:gd name="connsiteX7" fmla="*/ 0 w 7491984"/>
              <a:gd name="connsiteY7" fmla="*/ 5751576 h 57515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491984" h="5751576">
                <a:moveTo>
                  <a:pt x="3800341" y="0"/>
                </a:moveTo>
                <a:lnTo>
                  <a:pt x="7491984" y="0"/>
                </a:lnTo>
                <a:lnTo>
                  <a:pt x="7491984" y="5751576"/>
                </a:lnTo>
                <a:lnTo>
                  <a:pt x="3800341" y="5751576"/>
                </a:lnTo>
                <a:close/>
                <a:moveTo>
                  <a:pt x="0" y="0"/>
                </a:moveTo>
                <a:lnTo>
                  <a:pt x="3696432" y="0"/>
                </a:lnTo>
                <a:lnTo>
                  <a:pt x="3696432" y="5751576"/>
                </a:lnTo>
                <a:lnTo>
                  <a:pt x="0" y="57515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D5DDC5FA-EEDB-898F-533E-4094ADA899B9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79B0359-4B55-D899-E584-A8E6B2ED9123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6B916D02-76FE-EAED-CC51-A50448811F7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34173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tion 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6E787D40-90B5-470E-95A2-784F1CB479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49580" y="4423702"/>
            <a:ext cx="11292839" cy="1550378"/>
          </a:xfrm>
        </p:spPr>
        <p:txBody>
          <a:bodyPr>
            <a:noAutofit/>
          </a:bodyPr>
          <a:lstStyle>
            <a:lvl1pPr algn="ctr"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28BC27-38F1-47F3-EC35-7DD8B88A753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49580" y="705104"/>
            <a:ext cx="11292840" cy="3643376"/>
          </a:xfrm>
          <a:custGeom>
            <a:avLst/>
            <a:gdLst>
              <a:gd name="connsiteX0" fmla="*/ 7593576 w 11292840"/>
              <a:gd name="connsiteY0" fmla="*/ 0 h 3643376"/>
              <a:gd name="connsiteX1" fmla="*/ 11292840 w 11292840"/>
              <a:gd name="connsiteY1" fmla="*/ 0 h 3643376"/>
              <a:gd name="connsiteX2" fmla="*/ 11292840 w 11292840"/>
              <a:gd name="connsiteY2" fmla="*/ 3643376 h 3643376"/>
              <a:gd name="connsiteX3" fmla="*/ 7593576 w 11292840"/>
              <a:gd name="connsiteY3" fmla="*/ 3643376 h 3643376"/>
              <a:gd name="connsiteX4" fmla="*/ 0 w 11292840"/>
              <a:gd name="connsiteY4" fmla="*/ 0 h 3643376"/>
              <a:gd name="connsiteX5" fmla="*/ 7489667 w 11292840"/>
              <a:gd name="connsiteY5" fmla="*/ 0 h 3643376"/>
              <a:gd name="connsiteX6" fmla="*/ 7489667 w 11292840"/>
              <a:gd name="connsiteY6" fmla="*/ 3643376 h 3643376"/>
              <a:gd name="connsiteX7" fmla="*/ 0 w 11292840"/>
              <a:gd name="connsiteY7" fmla="*/ 3643376 h 3643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92840" h="3643376">
                <a:moveTo>
                  <a:pt x="7593576" y="0"/>
                </a:moveTo>
                <a:lnTo>
                  <a:pt x="11292840" y="0"/>
                </a:lnTo>
                <a:lnTo>
                  <a:pt x="11292840" y="3643376"/>
                </a:lnTo>
                <a:lnTo>
                  <a:pt x="7593576" y="3643376"/>
                </a:lnTo>
                <a:close/>
                <a:moveTo>
                  <a:pt x="0" y="0"/>
                </a:moveTo>
                <a:lnTo>
                  <a:pt x="7489667" y="0"/>
                </a:lnTo>
                <a:lnTo>
                  <a:pt x="7489667" y="3643376"/>
                </a:lnTo>
                <a:lnTo>
                  <a:pt x="0" y="364337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>
            <a:lvl1pPr marL="0" indent="0" algn="ctr">
              <a:buNone/>
              <a:defRPr/>
            </a:lvl1pPr>
          </a:lstStyle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dirty="0"/>
              <a:t>Click to add picture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3343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3606800" cy="2809240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36881" y="3698240"/>
            <a:ext cx="3606800" cy="2271076"/>
          </a:xfrm>
        </p:spPr>
        <p:txBody>
          <a:bodyPr anchor="t">
            <a:noAutofit/>
          </a:bodyPr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02608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54FD2A1-D363-7C44-2A72-54E8B397D31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36720" y="650240"/>
            <a:ext cx="7518398" cy="5713918"/>
          </a:xfrm>
          <a:custGeom>
            <a:avLst/>
            <a:gdLst>
              <a:gd name="connsiteX0" fmla="*/ 3806436 w 7518398"/>
              <a:gd name="connsiteY0" fmla="*/ 4479475 h 5713918"/>
              <a:gd name="connsiteX1" fmla="*/ 7518398 w 7518398"/>
              <a:gd name="connsiteY1" fmla="*/ 4479475 h 5713918"/>
              <a:gd name="connsiteX2" fmla="*/ 7518398 w 7518398"/>
              <a:gd name="connsiteY2" fmla="*/ 5713918 h 5713918"/>
              <a:gd name="connsiteX3" fmla="*/ 3806436 w 7518398"/>
              <a:gd name="connsiteY3" fmla="*/ 5713918 h 5713918"/>
              <a:gd name="connsiteX4" fmla="*/ 0 w 7518398"/>
              <a:gd name="connsiteY4" fmla="*/ 4479475 h 5713918"/>
              <a:gd name="connsiteX5" fmla="*/ 3702527 w 7518398"/>
              <a:gd name="connsiteY5" fmla="*/ 4479475 h 5713918"/>
              <a:gd name="connsiteX6" fmla="*/ 3702527 w 7518398"/>
              <a:gd name="connsiteY6" fmla="*/ 5713918 h 5713918"/>
              <a:gd name="connsiteX7" fmla="*/ 0 w 7518398"/>
              <a:gd name="connsiteY7" fmla="*/ 5713918 h 5713918"/>
              <a:gd name="connsiteX8" fmla="*/ 3806436 w 7518398"/>
              <a:gd name="connsiteY8" fmla="*/ 0 h 5713918"/>
              <a:gd name="connsiteX9" fmla="*/ 7518398 w 7518398"/>
              <a:gd name="connsiteY9" fmla="*/ 0 h 5713918"/>
              <a:gd name="connsiteX10" fmla="*/ 7518398 w 7518398"/>
              <a:gd name="connsiteY10" fmla="*/ 4379183 h 5713918"/>
              <a:gd name="connsiteX11" fmla="*/ 3806436 w 7518398"/>
              <a:gd name="connsiteY11" fmla="*/ 4379183 h 5713918"/>
              <a:gd name="connsiteX12" fmla="*/ 0 w 7518398"/>
              <a:gd name="connsiteY12" fmla="*/ 0 h 5713918"/>
              <a:gd name="connsiteX13" fmla="*/ 3702527 w 7518398"/>
              <a:gd name="connsiteY13" fmla="*/ 0 h 5713918"/>
              <a:gd name="connsiteX14" fmla="*/ 3702527 w 7518398"/>
              <a:gd name="connsiteY14" fmla="*/ 4379183 h 5713918"/>
              <a:gd name="connsiteX15" fmla="*/ 0 w 7518398"/>
              <a:gd name="connsiteY15" fmla="*/ 4379183 h 57139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7518398" h="5713918">
                <a:moveTo>
                  <a:pt x="3806436" y="4479475"/>
                </a:moveTo>
                <a:lnTo>
                  <a:pt x="7518398" y="4479475"/>
                </a:lnTo>
                <a:lnTo>
                  <a:pt x="7518398" y="5713918"/>
                </a:lnTo>
                <a:lnTo>
                  <a:pt x="3806436" y="5713918"/>
                </a:lnTo>
                <a:close/>
                <a:moveTo>
                  <a:pt x="0" y="4479475"/>
                </a:moveTo>
                <a:lnTo>
                  <a:pt x="3702527" y="4479475"/>
                </a:lnTo>
                <a:lnTo>
                  <a:pt x="3702527" y="5713918"/>
                </a:lnTo>
                <a:lnTo>
                  <a:pt x="0" y="5713918"/>
                </a:lnTo>
                <a:close/>
                <a:moveTo>
                  <a:pt x="3806436" y="0"/>
                </a:moveTo>
                <a:lnTo>
                  <a:pt x="7518398" y="0"/>
                </a:lnTo>
                <a:lnTo>
                  <a:pt x="7518398" y="4379183"/>
                </a:lnTo>
                <a:lnTo>
                  <a:pt x="3806436" y="4379183"/>
                </a:lnTo>
                <a:close/>
                <a:moveTo>
                  <a:pt x="0" y="0"/>
                </a:moveTo>
                <a:lnTo>
                  <a:pt x="3702527" y="0"/>
                </a:lnTo>
                <a:lnTo>
                  <a:pt x="3702527" y="4379183"/>
                </a:lnTo>
                <a:lnTo>
                  <a:pt x="0" y="4379183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577958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F9CC542F-D03C-4537-9B6E-7F653B6515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2878091"/>
            <a:ext cx="3729789" cy="3440485"/>
          </a:xfrm>
        </p:spPr>
        <p:txBody>
          <a:bodyPr tIns="182880" bIns="182880" anchor="ctr" anchorCtr="0">
            <a:noAutofit/>
          </a:bodyPr>
          <a:lstStyle/>
          <a:p>
            <a:r>
              <a:rPr lang="en-US" dirty="0"/>
              <a:t>Click to add title</a:t>
            </a:r>
            <a:endParaRPr lang="en-US" dirty="0">
              <a:solidFill>
                <a:schemeClr val="tx2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30F1D2B-CBE7-6279-2158-7A9F3B5D5C6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57200" y="670560"/>
            <a:ext cx="11267440" cy="2139696"/>
          </a:xfrm>
          <a:custGeom>
            <a:avLst/>
            <a:gdLst>
              <a:gd name="connsiteX0" fmla="*/ 3783068 w 11267440"/>
              <a:gd name="connsiteY0" fmla="*/ 0 h 2139696"/>
              <a:gd name="connsiteX1" fmla="*/ 11267440 w 11267440"/>
              <a:gd name="connsiteY1" fmla="*/ 0 h 2139696"/>
              <a:gd name="connsiteX2" fmla="*/ 11267440 w 11267440"/>
              <a:gd name="connsiteY2" fmla="*/ 2139696 h 2139696"/>
              <a:gd name="connsiteX3" fmla="*/ 3783068 w 11267440"/>
              <a:gd name="connsiteY3" fmla="*/ 2139696 h 2139696"/>
              <a:gd name="connsiteX4" fmla="*/ 0 w 11267440"/>
              <a:gd name="connsiteY4" fmla="*/ 0 h 2139696"/>
              <a:gd name="connsiteX5" fmla="*/ 3677799 w 11267440"/>
              <a:gd name="connsiteY5" fmla="*/ 0 h 2139696"/>
              <a:gd name="connsiteX6" fmla="*/ 3677799 w 11267440"/>
              <a:gd name="connsiteY6" fmla="*/ 2139696 h 2139696"/>
              <a:gd name="connsiteX7" fmla="*/ 0 w 11267440"/>
              <a:gd name="connsiteY7" fmla="*/ 2139696 h 2139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267440" h="2139696">
                <a:moveTo>
                  <a:pt x="3783068" y="0"/>
                </a:moveTo>
                <a:lnTo>
                  <a:pt x="11267440" y="0"/>
                </a:lnTo>
                <a:lnTo>
                  <a:pt x="11267440" y="2139696"/>
                </a:lnTo>
                <a:lnTo>
                  <a:pt x="3783068" y="2139696"/>
                </a:lnTo>
                <a:close/>
                <a:moveTo>
                  <a:pt x="0" y="0"/>
                </a:moveTo>
                <a:lnTo>
                  <a:pt x="3677799" y="0"/>
                </a:lnTo>
                <a:lnTo>
                  <a:pt x="3677799" y="2139696"/>
                </a:lnTo>
                <a:lnTo>
                  <a:pt x="0" y="2139696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anchor="t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7" name="Content Placeholder 5">
            <a:extLst>
              <a:ext uri="{FF2B5EF4-FFF2-40B4-BE49-F238E27FC236}">
                <a16:creationId xmlns:a16="http://schemas.microsoft.com/office/drawing/2014/main" id="{135EE74D-5A60-B83C-5C2D-7B6FEA778FCB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305827" y="2878091"/>
            <a:ext cx="7418813" cy="3440485"/>
          </a:xfrm>
        </p:spPr>
        <p:txBody>
          <a:bodyPr anchor="ctr" anchorCtr="0">
            <a:normAutofit/>
          </a:bodyPr>
          <a:lstStyle>
            <a:lvl1pPr marL="283464" indent="-283464">
              <a:buFont typeface="Arial" panose="020B0604020202020204" pitchFamily="34" charset="0"/>
              <a:buChar char="•"/>
              <a:defRPr/>
            </a:lvl1pPr>
            <a:lvl2pPr marL="283464" indent="-283464">
              <a:buFont typeface="Arial" panose="020B0604020202020204" pitchFamily="34" charset="0"/>
              <a:buChar char="•"/>
              <a:defRPr/>
            </a:lvl2pPr>
            <a:lvl3pPr marL="283464" indent="-283464">
              <a:buFont typeface="Arial" panose="020B0604020202020204" pitchFamily="34" charset="0"/>
              <a:buChar char="•"/>
              <a:defRPr/>
            </a:lvl3pPr>
            <a:lvl4pPr marL="283464" indent="-283464">
              <a:buFont typeface="Arial" panose="020B0604020202020204" pitchFamily="34" charset="0"/>
              <a:buChar char="•"/>
              <a:defRPr/>
            </a:lvl4pPr>
            <a:lvl5pPr marL="283464" indent="-283464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add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2BCF1FAD-0BAD-2574-3352-B152DF76C15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EC328E41-645E-D257-FFF3-93344A8E4FA5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DEF9E45A-6561-C074-14CE-B3B63476D221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672130" y="6423914"/>
            <a:ext cx="105251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85836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43000"/>
            <a:ext cx="9144000" cy="2585720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799840"/>
            <a:ext cx="9144000" cy="2052320"/>
          </a:xfrm>
        </p:spPr>
        <p:txBody>
          <a:bodyPr anchor="t">
            <a:no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968537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7200" y="690880"/>
            <a:ext cx="1126744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ECA520B1-DC84-A47D-1F5E-CCD567EB2D8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457200" y="2187362"/>
            <a:ext cx="3657600" cy="3633047"/>
          </a:xfrm>
        </p:spPr>
        <p:txBody>
          <a:bodyPr anchor="t">
            <a:normAutofit/>
          </a:bodyPr>
          <a:lstStyle>
            <a:lvl1pPr marL="342900" indent="-342900">
              <a:buFont typeface="+mj-lt"/>
              <a:buAutoNum type="arabicPeriod"/>
              <a:defRPr sz="1800"/>
            </a:lvl1pPr>
            <a:lvl2pPr marL="914400" indent="-342900">
              <a:buFont typeface="+mj-lt"/>
              <a:buAutoNum type="alphaLcPeriod"/>
              <a:defRPr sz="1800"/>
            </a:lvl2pPr>
            <a:lvl3pPr marL="1371600" indent="-342900">
              <a:buFont typeface="+mj-lt"/>
              <a:buAutoNum type="arabicPeriod"/>
              <a:defRPr sz="1800"/>
            </a:lvl3pPr>
            <a:lvl4pPr marL="1600200" indent="-342900">
              <a:buFont typeface="+mj-lt"/>
              <a:buAutoNum type="alphaLcParenR"/>
              <a:defRPr sz="1800"/>
            </a:lvl4pPr>
            <a:lvl5pPr marL="2057400" indent="-400050">
              <a:buFont typeface="+mj-lt"/>
              <a:buAutoNum type="romanLcPeriod"/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282437" y="2187361"/>
            <a:ext cx="7442203" cy="3633047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0">
              <a:defRPr sz="1800"/>
            </a:lvl2pPr>
            <a:lvl3pPr marL="548640">
              <a:defRPr sz="1800"/>
            </a:lvl3pPr>
            <a:lvl4pPr marL="822960">
              <a:defRPr sz="1800"/>
            </a:lvl4pPr>
            <a:lvl5pPr marL="1097280"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57200" y="6423914"/>
            <a:ext cx="7041202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558300" y="6423914"/>
            <a:ext cx="1166340" cy="365125"/>
          </a:xfrm>
        </p:spPr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98338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+ subtitle +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08219" y="741363"/>
            <a:ext cx="5626579" cy="1286219"/>
          </a:xfrm>
        </p:spPr>
        <p:txBody>
          <a:bodyPr anchor="b">
            <a:noAutofit/>
          </a:bodyPr>
          <a:lstStyle>
            <a:lvl1pPr algn="l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FCBE840D-FAED-31D9-AF31-112670D0FA2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200" y="761684"/>
            <a:ext cx="5171440" cy="5662230"/>
          </a:xfrm>
          <a:custGeom>
            <a:avLst/>
            <a:gdLst>
              <a:gd name="connsiteX0" fmla="*/ 0 w 5171440"/>
              <a:gd name="connsiteY0" fmla="*/ 5056400 h 5662230"/>
              <a:gd name="connsiteX1" fmla="*/ 3685975 w 5171440"/>
              <a:gd name="connsiteY1" fmla="*/ 5056400 h 5662230"/>
              <a:gd name="connsiteX2" fmla="*/ 3685975 w 5171440"/>
              <a:gd name="connsiteY2" fmla="*/ 5662230 h 5662230"/>
              <a:gd name="connsiteX3" fmla="*/ 0 w 5171440"/>
              <a:gd name="connsiteY3" fmla="*/ 5662230 h 5662230"/>
              <a:gd name="connsiteX4" fmla="*/ 3789884 w 5171440"/>
              <a:gd name="connsiteY4" fmla="*/ 0 h 5662230"/>
              <a:gd name="connsiteX5" fmla="*/ 5171440 w 5171440"/>
              <a:gd name="connsiteY5" fmla="*/ 0 h 5662230"/>
              <a:gd name="connsiteX6" fmla="*/ 5171440 w 5171440"/>
              <a:gd name="connsiteY6" fmla="*/ 5662230 h 5662230"/>
              <a:gd name="connsiteX7" fmla="*/ 3789884 w 5171440"/>
              <a:gd name="connsiteY7" fmla="*/ 5662230 h 5662230"/>
              <a:gd name="connsiteX8" fmla="*/ 3789884 w 5171440"/>
              <a:gd name="connsiteY8" fmla="*/ 5056400 h 5662230"/>
              <a:gd name="connsiteX9" fmla="*/ 5168980 w 5171440"/>
              <a:gd name="connsiteY9" fmla="*/ 5056400 h 5662230"/>
              <a:gd name="connsiteX10" fmla="*/ 5168980 w 5171440"/>
              <a:gd name="connsiteY10" fmla="*/ 4956108 h 5662230"/>
              <a:gd name="connsiteX11" fmla="*/ 3789884 w 5171440"/>
              <a:gd name="connsiteY11" fmla="*/ 4956108 h 5662230"/>
              <a:gd name="connsiteX12" fmla="*/ 0 w 5171440"/>
              <a:gd name="connsiteY12" fmla="*/ 0 h 5662230"/>
              <a:gd name="connsiteX13" fmla="*/ 3685975 w 5171440"/>
              <a:gd name="connsiteY13" fmla="*/ 0 h 5662230"/>
              <a:gd name="connsiteX14" fmla="*/ 3685975 w 5171440"/>
              <a:gd name="connsiteY14" fmla="*/ 4956108 h 5662230"/>
              <a:gd name="connsiteX15" fmla="*/ 0 w 5171440"/>
              <a:gd name="connsiteY15" fmla="*/ 4956108 h 5662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171440" h="5662230">
                <a:moveTo>
                  <a:pt x="0" y="5056400"/>
                </a:moveTo>
                <a:lnTo>
                  <a:pt x="3685975" y="5056400"/>
                </a:lnTo>
                <a:lnTo>
                  <a:pt x="3685975" y="5662230"/>
                </a:lnTo>
                <a:lnTo>
                  <a:pt x="0" y="5662230"/>
                </a:lnTo>
                <a:close/>
                <a:moveTo>
                  <a:pt x="3789884" y="0"/>
                </a:moveTo>
                <a:lnTo>
                  <a:pt x="5171440" y="0"/>
                </a:lnTo>
                <a:lnTo>
                  <a:pt x="5171440" y="5662230"/>
                </a:lnTo>
                <a:lnTo>
                  <a:pt x="3789884" y="5662230"/>
                </a:lnTo>
                <a:lnTo>
                  <a:pt x="3789884" y="5056400"/>
                </a:lnTo>
                <a:lnTo>
                  <a:pt x="5168980" y="5056400"/>
                </a:lnTo>
                <a:lnTo>
                  <a:pt x="5168980" y="4956108"/>
                </a:lnTo>
                <a:lnTo>
                  <a:pt x="3789884" y="4956108"/>
                </a:lnTo>
                <a:close/>
                <a:moveTo>
                  <a:pt x="0" y="0"/>
                </a:moveTo>
                <a:lnTo>
                  <a:pt x="3685975" y="0"/>
                </a:lnTo>
                <a:lnTo>
                  <a:pt x="3685975" y="4956108"/>
                </a:lnTo>
                <a:lnTo>
                  <a:pt x="0" y="4956108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>
            <a:noAutofit/>
          </a:bodyPr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22983C-26B8-DE15-E309-D0E93B8C699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06160" y="2235200"/>
            <a:ext cx="5628639" cy="4188713"/>
          </a:xfrm>
        </p:spPr>
        <p:txBody>
          <a:bodyPr anchor="t" anchorCtr="0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82289" y="6423914"/>
            <a:ext cx="1052510" cy="365125"/>
          </a:xfrm>
        </p:spPr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26336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2"/>
            <a:ext cx="11029616" cy="36520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6423914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6423914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6423914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E457D222-120F-E222-DE7E-B44B0BC1863F}"/>
              </a:ext>
            </a:extLst>
          </p:cNvPr>
          <p:cNvGrpSpPr/>
          <p:nvPr userDrawn="1"/>
        </p:nvGrpSpPr>
        <p:grpSpPr>
          <a:xfrm>
            <a:off x="428696" y="482137"/>
            <a:ext cx="11301155" cy="81191"/>
            <a:chOff x="428696" y="482137"/>
            <a:chExt cx="11301155" cy="81191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9DF259B-1168-B954-21F8-A08A3C462F3C}"/>
                </a:ext>
              </a:extLst>
            </p:cNvPr>
            <p:cNvSpPr/>
            <p:nvPr/>
          </p:nvSpPr>
          <p:spPr>
            <a:xfrm flipV="1">
              <a:off x="428696" y="482137"/>
              <a:ext cx="3703321" cy="81191"/>
            </a:xfrm>
            <a:prstGeom prst="rect">
              <a:avLst/>
            </a:prstGeom>
            <a:solidFill>
              <a:schemeClr val="accent3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B5A595C-AA3A-9D82-01BB-7810CE5F7A5E}"/>
                </a:ext>
              </a:extLst>
            </p:cNvPr>
            <p:cNvSpPr/>
            <p:nvPr/>
          </p:nvSpPr>
          <p:spPr>
            <a:xfrm flipV="1">
              <a:off x="4235926" y="482137"/>
              <a:ext cx="3703321" cy="81191"/>
            </a:xfrm>
            <a:prstGeom prst="rect">
              <a:avLst/>
            </a:prstGeom>
            <a:solidFill>
              <a:schemeClr val="accent1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1178CB63-8F78-566B-8120-9DC73FB7B23B}"/>
                </a:ext>
              </a:extLst>
            </p:cNvPr>
            <p:cNvSpPr/>
            <p:nvPr/>
          </p:nvSpPr>
          <p:spPr>
            <a:xfrm flipV="1">
              <a:off x="8026530" y="482137"/>
              <a:ext cx="3703321" cy="81191"/>
            </a:xfrm>
            <a:prstGeom prst="rect">
              <a:avLst/>
            </a:prstGeom>
            <a:solidFill>
              <a:schemeClr val="accent4"/>
            </a:solidFill>
            <a:ln w="539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0910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02" r:id="rId3"/>
    <p:sldLayoutId id="2147483803" r:id="rId4"/>
    <p:sldLayoutId id="2147483804" r:id="rId5"/>
    <p:sldLayoutId id="2147483805" r:id="rId6"/>
    <p:sldLayoutId id="2147483806" r:id="rId7"/>
    <p:sldLayoutId id="2147483807" r:id="rId8"/>
    <p:sldLayoutId id="2147483808" r:id="rId9"/>
    <p:sldLayoutId id="2147483809" r:id="rId10"/>
    <p:sldLayoutId id="2147483810" r:id="rId11"/>
    <p:sldLayoutId id="2147483811" r:id="rId12"/>
    <p:sldLayoutId id="2147483812" r:id="rId13"/>
    <p:sldLayoutId id="2147483813" r:id="rId14"/>
    <p:sldLayoutId id="2147483814" r:id="rId15"/>
    <p:sldLayoutId id="2147483815" r:id="rId16"/>
    <p:sldLayoutId id="2147483816" r:id="rId17"/>
    <p:sldLayoutId id="2147483817" r:id="rId18"/>
    <p:sldLayoutId id="2147483818" r:id="rId19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79F0267-9D1C-BDA9-A152-B01CD379FC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8055" y="909060"/>
            <a:ext cx="11265407" cy="2194624"/>
          </a:xfrm>
        </p:spPr>
        <p:txBody>
          <a:bodyPr/>
          <a:lstStyle/>
          <a:p>
            <a:br>
              <a:rPr lang="en-US" dirty="0"/>
            </a:br>
            <a:br>
              <a:rPr lang="en-US" dirty="0"/>
            </a:br>
            <a:r>
              <a:rPr lang="en-US" dirty="0"/>
              <a:t>US Life Expectancy Across US Counties After AGE 50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Michael Tyler</a:t>
            </a:r>
            <a:br>
              <a:rPr lang="en-US" dirty="0"/>
            </a:br>
            <a:r>
              <a:rPr lang="en-US" dirty="0"/>
              <a:t>DATA 606 – Data Science Capstone</a:t>
            </a:r>
            <a:br>
              <a:rPr lang="en-US" dirty="0"/>
            </a:br>
            <a:endParaRPr lang="en-US" dirty="0"/>
          </a:p>
        </p:txBody>
      </p:sp>
      <p:pic>
        <p:nvPicPr>
          <p:cNvPr id="10" name="Picture Placeholder 9" descr="A stethoscope on a clipboard">
            <a:extLst>
              <a:ext uri="{FF2B5EF4-FFF2-40B4-BE49-F238E27FC236}">
                <a16:creationId xmlns:a16="http://schemas.microsoft.com/office/drawing/2014/main" id="{CC4B82FA-2EA0-5319-6B9C-8D78349FCB0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/>
          <a:srcRect t="28164" b="28164"/>
          <a:stretch/>
        </p:blipFill>
        <p:spPr/>
      </p:pic>
    </p:spTree>
    <p:extLst>
      <p:ext uri="{BB962C8B-B14F-4D97-AF65-F5344CB8AC3E}">
        <p14:creationId xmlns:p14="http://schemas.microsoft.com/office/powerpoint/2010/main" val="10397590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FB23E1E4-7CB2-923B-9D41-672CB85E0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7600" cy="970236"/>
          </a:xfrm>
        </p:spPr>
        <p:txBody>
          <a:bodyPr/>
          <a:lstStyle/>
          <a:p>
            <a:r>
              <a:rPr lang="en-US" dirty="0"/>
              <a:t>Overview	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1A667A9A-3428-68BE-D555-0DE1859FDF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1342" y="1804524"/>
            <a:ext cx="3657600" cy="4487924"/>
          </a:xfrm>
        </p:spPr>
        <p:txBody>
          <a:bodyPr/>
          <a:lstStyle/>
          <a:p>
            <a:r>
              <a:rPr lang="en-US" dirty="0"/>
              <a:t>US Life Expectancy Lags behind other developed countries and varies by more than 20 years across US Counties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dirty="0"/>
              <a:t>Which social, economic, behavioral, and healthcare factors predict county life expectancy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Live expectancy overall is studied well this will focus on Life Expectancy after age 50.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use five data sources that include 3079 Counties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pic>
        <p:nvPicPr>
          <p:cNvPr id="34" name="Picture Placeholder 21" descr="A close-up of a stethoscope">
            <a:extLst>
              <a:ext uri="{FF2B5EF4-FFF2-40B4-BE49-F238E27FC236}">
                <a16:creationId xmlns:a16="http://schemas.microsoft.com/office/drawing/2014/main" id="{63F55FD3-B051-BD22-347E-065B72C87E1C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148" r="148"/>
          <a:stretch/>
        </p:blipFill>
        <p:spPr>
          <a:xfrm>
            <a:off x="6400799" y="640080"/>
            <a:ext cx="5333999" cy="5751576"/>
          </a:xfrm>
        </p:spPr>
      </p:pic>
    </p:spTree>
    <p:extLst>
      <p:ext uri="{BB962C8B-B14F-4D97-AF65-F5344CB8AC3E}">
        <p14:creationId xmlns:p14="http://schemas.microsoft.com/office/powerpoint/2010/main" val="2201125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C070BA2A-9860-BB05-E49E-957A19AA3B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9580" y="712099"/>
            <a:ext cx="11292839" cy="851822"/>
          </a:xfrm>
        </p:spPr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4648B0-B50D-BC8A-9A2C-1FCD2A3B7E73}"/>
              </a:ext>
            </a:extLst>
          </p:cNvPr>
          <p:cNvSpPr txBox="1"/>
          <p:nvPr/>
        </p:nvSpPr>
        <p:spPr>
          <a:xfrm>
            <a:off x="679731" y="1650774"/>
            <a:ext cx="11167009" cy="37548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400" b="1" dirty="0"/>
              <a:t>IHME County Life Expectancy Data File </a:t>
            </a:r>
            <a:r>
              <a:rPr lang="en-US" sz="1400" dirty="0"/>
              <a:t>(University of Washington):  The Institute for Health Metrics and Evaluation published life expectancy for each age group, sex, year, and racial-ethnic group.  We will use this for are over 50 age group and at birth group as a comparison.</a:t>
            </a:r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b="1" dirty="0"/>
              <a:t>County Health Rankings Analytic Data </a:t>
            </a:r>
            <a:r>
              <a:rPr lang="en-US" sz="1400" dirty="0"/>
              <a:t>(University of Wisconsin): Non-Census predictors: smoking, obesity, physical inactivity, excessive drinking, sleep, food environment, exercise access, uninsured adults, provider supply (primary care, dentists, mental health), preventable hospital stays, screening and flu vaccination by county.</a:t>
            </a:r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b="1" dirty="0"/>
              <a:t>Census American Community Survey:  </a:t>
            </a:r>
            <a:r>
              <a:rPr lang="en-US" sz="1400" dirty="0"/>
              <a:t>Standard for county socioeconomic data.  Includes data such as household income, income inequality home values, poverty, unemployment, educational level.</a:t>
            </a:r>
          </a:p>
          <a:p>
            <a:pPr marL="342900" indent="-342900">
              <a:buFont typeface="+mj-lt"/>
              <a:buAutoNum type="arabicPeriod"/>
            </a:pPr>
            <a:endParaRPr lang="en-US" sz="1400" b="1" dirty="0"/>
          </a:p>
          <a:p>
            <a:pPr marL="342900" indent="-342900">
              <a:buFont typeface="+mj-lt"/>
              <a:buAutoNum type="arabicPeriod"/>
            </a:pPr>
            <a:r>
              <a:rPr lang="en-US" sz="1400" b="1" dirty="0"/>
              <a:t>USDA ERS Rural-Urban Continuum Codes</a:t>
            </a:r>
            <a:r>
              <a:rPr lang="en-US" sz="1400" dirty="0"/>
              <a:t>:  Give a score from one to nine on the rurality of a county.  From Urban Center, Suburb to Extremely Rural. </a:t>
            </a:r>
          </a:p>
          <a:p>
            <a:pPr marL="342900" indent="-342900">
              <a:buFont typeface="+mj-lt"/>
              <a:buAutoNum type="arabicPeriod"/>
            </a:pPr>
            <a:endParaRPr lang="en-US" sz="1400" b="1" dirty="0"/>
          </a:p>
          <a:p>
            <a:pPr marL="342900" indent="-342900">
              <a:buFont typeface="+mj-lt"/>
              <a:buAutoNum type="arabicPeriod"/>
            </a:pPr>
            <a:r>
              <a:rPr lang="en-US" sz="1400" b="1" dirty="0"/>
              <a:t>CMS Medicare Geographic Variation</a:t>
            </a:r>
            <a:r>
              <a:rPr lang="en-US" sz="1400" dirty="0"/>
              <a:t>: Has Medicare and Medicaid Spending per Beneficiary, Medicare Advantage enrollment rates, Emergency Room Visits etc.</a:t>
            </a:r>
            <a:endParaRPr lang="en-US" sz="1400" b="1" dirty="0"/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  <a:p>
            <a:pPr marL="342900" indent="-342900">
              <a:buFont typeface="+mj-lt"/>
              <a:buAutoNum type="arabicPeriod"/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21841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66CF7-69F4-F432-4747-28EF15528DB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6882" y="629920"/>
            <a:ext cx="4592318" cy="810462"/>
          </a:xfrm>
        </p:spPr>
        <p:txBody>
          <a:bodyPr/>
          <a:lstStyle/>
          <a:p>
            <a:r>
              <a:rPr lang="en-US" dirty="0"/>
              <a:t>Attributes Dropped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082E89-DB15-6D26-7098-DA9792B0B0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274" y="3507199"/>
            <a:ext cx="3606800" cy="2271076"/>
          </a:xfrm>
        </p:spPr>
        <p:txBody>
          <a:bodyPr/>
          <a:lstStyle/>
          <a:p>
            <a:r>
              <a:rPr lang="en-US" b="1" dirty="0"/>
              <a:t>Not related to over</a:t>
            </a:r>
            <a:r>
              <a:rPr lang="en-US" sz="1600" b="1" dirty="0"/>
              <a:t> age 50</a:t>
            </a:r>
            <a:r>
              <a:rPr lang="en-US" sz="1600" dirty="0"/>
              <a:t>:</a:t>
            </a:r>
          </a:p>
          <a:p>
            <a:r>
              <a:rPr lang="en-US" sz="1600" dirty="0"/>
              <a:t>Low Birthweight, Teen </a:t>
            </a:r>
            <a:r>
              <a:rPr lang="en-US" dirty="0"/>
              <a:t>Births, Child Care Cost Burden, Child Care Centers, School Funding Adequacy, Reading Scores, Math Scores, School Segregation, Children Eligible for Free or Reduced Price Lunch</a:t>
            </a:r>
          </a:p>
        </p:txBody>
      </p:sp>
      <p:pic>
        <p:nvPicPr>
          <p:cNvPr id="21" name="Picture Placeholder 20" descr="A person in a white coat with a stethoscope around her neck">
            <a:extLst>
              <a:ext uri="{FF2B5EF4-FFF2-40B4-BE49-F238E27FC236}">
                <a16:creationId xmlns:a16="http://schemas.microsoft.com/office/drawing/2014/main" id="{244AC564-6A07-A90A-B027-67CD2423BBD3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t="354" b="354"/>
          <a:stretch/>
        </p:blipFill>
        <p:spPr>
          <a:xfrm>
            <a:off x="5476672" y="650240"/>
            <a:ext cx="6278446" cy="5713918"/>
          </a:xfr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02B8FB2-A8F2-97F8-EEAD-7CEC016DA1D3}"/>
              </a:ext>
            </a:extLst>
          </p:cNvPr>
          <p:cNvSpPr txBox="1"/>
          <p:nvPr/>
        </p:nvSpPr>
        <p:spPr>
          <a:xfrm>
            <a:off x="647274" y="1610315"/>
            <a:ext cx="310743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Insufficient Data :</a:t>
            </a:r>
          </a:p>
          <a:p>
            <a:endParaRPr lang="en-US" dirty="0"/>
          </a:p>
          <a:p>
            <a:r>
              <a:rPr lang="en-US" dirty="0"/>
              <a:t>Disconnect Youth 37%</a:t>
            </a:r>
          </a:p>
          <a:p>
            <a:r>
              <a:rPr lang="en-US" dirty="0"/>
              <a:t>High School Graduation 75%</a:t>
            </a:r>
          </a:p>
          <a:p>
            <a:r>
              <a:rPr lang="en-US" dirty="0"/>
              <a:t>Juvenile Arrests 63%</a:t>
            </a:r>
          </a:p>
          <a:p>
            <a:r>
              <a:rPr lang="en-US" dirty="0"/>
              <a:t>Residential Segregation 67%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5306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48CC8329-5BE5-94B7-B5B2-CBC9BE1BE0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2151154"/>
              </p:ext>
            </p:extLst>
          </p:nvPr>
        </p:nvGraphicFramePr>
        <p:xfrm>
          <a:off x="748874" y="1095130"/>
          <a:ext cx="10694251" cy="2514600"/>
        </p:xfrm>
        <a:graphic>
          <a:graphicData uri="http://schemas.openxmlformats.org/drawingml/2006/table">
            <a:tbl>
              <a:tblPr>
                <a:tableStyleId>{912C8C85-51F0-491E-9774-3900AFEF0FD7}</a:tableStyleId>
              </a:tblPr>
              <a:tblGrid>
                <a:gridCol w="1482285">
                  <a:extLst>
                    <a:ext uri="{9D8B030D-6E8A-4147-A177-3AD203B41FA5}">
                      <a16:colId xmlns:a16="http://schemas.microsoft.com/office/drawing/2014/main" val="222205744"/>
                    </a:ext>
                  </a:extLst>
                </a:gridCol>
                <a:gridCol w="1547021">
                  <a:extLst>
                    <a:ext uri="{9D8B030D-6E8A-4147-A177-3AD203B41FA5}">
                      <a16:colId xmlns:a16="http://schemas.microsoft.com/office/drawing/2014/main" val="2884448992"/>
                    </a:ext>
                  </a:extLst>
                </a:gridCol>
                <a:gridCol w="1254051">
                  <a:extLst>
                    <a:ext uri="{9D8B030D-6E8A-4147-A177-3AD203B41FA5}">
                      <a16:colId xmlns:a16="http://schemas.microsoft.com/office/drawing/2014/main" val="325255113"/>
                    </a:ext>
                  </a:extLst>
                </a:gridCol>
                <a:gridCol w="1839990">
                  <a:extLst>
                    <a:ext uri="{9D8B030D-6E8A-4147-A177-3AD203B41FA5}">
                      <a16:colId xmlns:a16="http://schemas.microsoft.com/office/drawing/2014/main" val="1798820538"/>
                    </a:ext>
                  </a:extLst>
                </a:gridCol>
                <a:gridCol w="1547021">
                  <a:extLst>
                    <a:ext uri="{9D8B030D-6E8A-4147-A177-3AD203B41FA5}">
                      <a16:colId xmlns:a16="http://schemas.microsoft.com/office/drawing/2014/main" val="1552982554"/>
                    </a:ext>
                  </a:extLst>
                </a:gridCol>
                <a:gridCol w="1547021">
                  <a:extLst>
                    <a:ext uri="{9D8B030D-6E8A-4147-A177-3AD203B41FA5}">
                      <a16:colId xmlns:a16="http://schemas.microsoft.com/office/drawing/2014/main" val="274195889"/>
                    </a:ext>
                  </a:extLst>
                </a:gridCol>
                <a:gridCol w="1476862">
                  <a:extLst>
                    <a:ext uri="{9D8B030D-6E8A-4147-A177-3AD203B41FA5}">
                      <a16:colId xmlns:a16="http://schemas.microsoft.com/office/drawing/2014/main" val="87282263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County Name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State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Years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Males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</a:t>
                      </a:r>
                      <a:r>
                        <a:rPr lang="en-US" sz="900" dirty="0" err="1">
                          <a:effectLst/>
                        </a:rPr>
                        <a:t>Femails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Total Population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08716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Summit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CO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44.5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43.4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45.6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30649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0731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Pitkin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CO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43.8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42.1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45.4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17926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086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Eagle County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CO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41.0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39.6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42.3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54681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7958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San Miguel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CO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39.2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37.8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40.7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8049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19575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Collier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FL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38.3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36.2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40.3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371453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4649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Aleutians West CA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AK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38.3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39.0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37.0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9083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48108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Mono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CA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38.2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36.9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39.8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14310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952575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Presidio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TX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37.9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36.1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40.0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6975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5382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Teton County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WY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37.9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37.1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38.7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23280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5555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Haines Borough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AK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37.5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34.6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40.4</a:t>
                      </a:r>
                      <a:endParaRPr lang="en-US" sz="90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2518</a:t>
                      </a:r>
                      <a:endParaRPr lang="en-US" sz="90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091073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1629CA7-8082-E492-8DDD-91BDCC520145}"/>
              </a:ext>
            </a:extLst>
          </p:cNvPr>
          <p:cNvSpPr txBox="1"/>
          <p:nvPr/>
        </p:nvSpPr>
        <p:spPr>
          <a:xfrm>
            <a:off x="3147802" y="776835"/>
            <a:ext cx="534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Highest Life Expectancy Counties at 50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EC1574E-C5E4-1F5E-FBBA-82F31C28BF46}"/>
              </a:ext>
            </a:extLst>
          </p:cNvPr>
          <p:cNvSpPr txBox="1"/>
          <p:nvPr/>
        </p:nvSpPr>
        <p:spPr>
          <a:xfrm>
            <a:off x="3281349" y="3590131"/>
            <a:ext cx="534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Lowest Life Expectancy Counties at 50</a:t>
            </a:r>
          </a:p>
        </p:txBody>
      </p: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7D861EA5-3C02-F16A-5DE5-19A2F9A5D4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418906"/>
              </p:ext>
            </p:extLst>
          </p:nvPr>
        </p:nvGraphicFramePr>
        <p:xfrm>
          <a:off x="768743" y="4032955"/>
          <a:ext cx="10862096" cy="2514600"/>
        </p:xfrm>
        <a:graphic>
          <a:graphicData uri="http://schemas.openxmlformats.org/drawingml/2006/table">
            <a:tbl>
              <a:tblPr>
                <a:tableStyleId>{912C8C85-51F0-491E-9774-3900AFEF0FD7}</a:tableStyleId>
              </a:tblPr>
              <a:tblGrid>
                <a:gridCol w="1551728">
                  <a:extLst>
                    <a:ext uri="{9D8B030D-6E8A-4147-A177-3AD203B41FA5}">
                      <a16:colId xmlns:a16="http://schemas.microsoft.com/office/drawing/2014/main" val="995544900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4132175979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4148334125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3787044071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1209067471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4145849350"/>
                    </a:ext>
                  </a:extLst>
                </a:gridCol>
                <a:gridCol w="1551728">
                  <a:extLst>
                    <a:ext uri="{9D8B030D-6E8A-4147-A177-3AD203B41FA5}">
                      <a16:colId xmlns:a16="http://schemas.microsoft.com/office/drawing/2014/main" val="5293543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County Name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State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Years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Males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Life Expectancy </a:t>
                      </a:r>
                      <a:r>
                        <a:rPr lang="en-US" sz="900" dirty="0" err="1">
                          <a:effectLst/>
                        </a:rPr>
                        <a:t>Femails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Total Population</a:t>
                      </a:r>
                      <a:endParaRPr lang="en-US" sz="900" b="1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3288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Martinsville city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VA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22.9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20.8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24.8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12852.0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52006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Union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FL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22.9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20.3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29.7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15303.0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92013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Galax city</a:t>
                      </a:r>
                      <a:endParaRPr lang="en-US" sz="900" b="0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VA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24.1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21.5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26.6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6517.0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1173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Perry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KY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24.3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22.8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25.9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26624.0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503282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Shannon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SD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24.4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21.5</a:t>
                      </a:r>
                      <a:endParaRPr lang="en-US" sz="900" b="0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27.3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14335.0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24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Petersburg city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VA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25.1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22.0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27.9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31362.0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69990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Harlan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KY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25.3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23.0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26699.0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79551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Leslie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KY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25.3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23.6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10283.0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395638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Powell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KY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25.5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23.6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12304.0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472968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endParaRPr lang="en-US" sz="900" b="1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Clay County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KY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25.6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23.8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>
                          <a:effectLst/>
                        </a:rPr>
                        <a:t>27.4</a:t>
                      </a:r>
                      <a:endParaRPr lang="en-US" sz="900" b="0" i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r" fontAlgn="ctr">
                        <a:buNone/>
                      </a:pPr>
                      <a:r>
                        <a:rPr lang="en-US" sz="900" dirty="0">
                          <a:effectLst/>
                        </a:rPr>
                        <a:t>20368.0</a:t>
                      </a:r>
                      <a:endParaRPr lang="en-US" sz="900" b="0" i="0" dirty="0">
                        <a:solidFill>
                          <a:srgbClr val="000000"/>
                        </a:solidFill>
                        <a:effectLst/>
                        <a:latin typeface="Helvetica Neue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91117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958200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7EEE756-24CE-45BF-ED3B-BCDD84D785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5960529"/>
              </p:ext>
            </p:extLst>
          </p:nvPr>
        </p:nvGraphicFramePr>
        <p:xfrm>
          <a:off x="485522" y="1132438"/>
          <a:ext cx="5610478" cy="292608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2792359">
                  <a:extLst>
                    <a:ext uri="{9D8B030D-6E8A-4147-A177-3AD203B41FA5}">
                      <a16:colId xmlns:a16="http://schemas.microsoft.com/office/drawing/2014/main" val="3135967296"/>
                    </a:ext>
                  </a:extLst>
                </a:gridCol>
                <a:gridCol w="2818119">
                  <a:extLst>
                    <a:ext uri="{9D8B030D-6E8A-4147-A177-3AD203B41FA5}">
                      <a16:colId xmlns:a16="http://schemas.microsoft.com/office/drawing/2014/main" val="268227798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Description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333051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chr_adult_smoking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adults who smoke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63326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chr_adult_obesity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adults with BMI ≥ 30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564185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chr_physical_inactivity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of adults reporting no leisure-time physical activity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73300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chr_excessive_drinking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adults reporting binge or heavy drinking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250532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chr_insufficient_sleep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adults sleeping under 7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90467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chr_food_environment_index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Index (0–10) of food access and food insecurity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2234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chr_access_to_exercise_opportunities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with access to places for physical activity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69759471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E9B6B24-E071-B681-EB9F-E2018A5EA43F}"/>
              </a:ext>
            </a:extLst>
          </p:cNvPr>
          <p:cNvSpPr txBox="1"/>
          <p:nvPr/>
        </p:nvSpPr>
        <p:spPr>
          <a:xfrm>
            <a:off x="793019" y="623087"/>
            <a:ext cx="16609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Health Features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393711D8-6B31-6E5E-F96F-CF2003DB2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8742"/>
              </p:ext>
            </p:extLst>
          </p:nvPr>
        </p:nvGraphicFramePr>
        <p:xfrm>
          <a:off x="6505996" y="1132438"/>
          <a:ext cx="4643443" cy="4272907"/>
        </p:xfrm>
        <a:graphic>
          <a:graphicData uri="http://schemas.openxmlformats.org/drawingml/2006/table">
            <a:tbl>
              <a:tblPr>
                <a:tableStyleId>{912C8C85-51F0-491E-9774-3900AFEF0FD7}</a:tableStyleId>
              </a:tblPr>
              <a:tblGrid>
                <a:gridCol w="1996794">
                  <a:extLst>
                    <a:ext uri="{9D8B030D-6E8A-4147-A177-3AD203B41FA5}">
                      <a16:colId xmlns:a16="http://schemas.microsoft.com/office/drawing/2014/main" val="2370584370"/>
                    </a:ext>
                  </a:extLst>
                </a:gridCol>
                <a:gridCol w="2646649">
                  <a:extLst>
                    <a:ext uri="{9D8B030D-6E8A-4147-A177-3AD203B41FA5}">
                      <a16:colId xmlns:a16="http://schemas.microsoft.com/office/drawing/2014/main" val="3634331433"/>
                    </a:ext>
                  </a:extLst>
                </a:gridCol>
              </a:tblGrid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Feature</a:t>
                      </a:r>
                    </a:p>
                  </a:txBody>
                  <a:tcPr marL="70247" marR="70247" marT="35123" marB="35123" anchor="ctr">
                    <a:solidFill>
                      <a:srgbClr val="46535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marL="70247" marR="70247" marT="35123" marB="35123" anchor="ctr">
                    <a:solidFill>
                      <a:srgbClr val="46535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5716274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chr_uninsured_adults</a:t>
                      </a:r>
                      <a:endParaRPr lang="en-US" sz="1200" dirty="0"/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of adults under 65 without insurance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3664406618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chr_primary_care_physicians</a:t>
                      </a:r>
                      <a:endParaRPr lang="en-US" sz="1200" dirty="0"/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Primary care physicians per population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2865518827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chr_mental_health_providers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Mental health providers per population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1190434714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chr_dentists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Dentists per population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2971341924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chr_preventable_hospital_stays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Hospital stays for conditions treatable in outpatient care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373257071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chr_mammography_screening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female Medicare enrollees screened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1489681485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chr_flu_vaccinations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Medicare enrollees vaccinated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2889444195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cms_std_spending_per_capita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Standardized Medicare spending per beneficiary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3869153597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cms_pct_dual_eligible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beneficiaries also eligible for Medicaid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2898241328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cms_ma_participation_rate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Medicare Advantage participation rate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3525720682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cms_er_visits_per_1000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ER visits per 1,000 beneficiaries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2812146684"/>
                  </a:ext>
                </a:extLst>
              </a:tr>
              <a:tr h="2809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cms_readmission_pct</a:t>
                      </a:r>
                    </a:p>
                  </a:txBody>
                  <a:tcPr marL="70247" marR="70247" marT="35123" marB="3512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30-day hospital readmission rate</a:t>
                      </a:r>
                    </a:p>
                  </a:txBody>
                  <a:tcPr marL="70247" marR="70247" marT="35123" marB="35123" anchor="ctr"/>
                </a:tc>
                <a:extLst>
                  <a:ext uri="{0D108BD9-81ED-4DB2-BD59-A6C34878D82A}">
                    <a16:rowId xmlns:a16="http://schemas.microsoft.com/office/drawing/2014/main" val="1465441224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5C38CB76-02E0-8642-5BA1-D22CF41DB461}"/>
              </a:ext>
            </a:extLst>
          </p:cNvPr>
          <p:cNvSpPr txBox="1"/>
          <p:nvPr/>
        </p:nvSpPr>
        <p:spPr>
          <a:xfrm>
            <a:off x="6570733" y="623087"/>
            <a:ext cx="2344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Health Access Features</a:t>
            </a:r>
          </a:p>
        </p:txBody>
      </p:sp>
    </p:spTree>
    <p:extLst>
      <p:ext uri="{BB962C8B-B14F-4D97-AF65-F5344CB8AC3E}">
        <p14:creationId xmlns:p14="http://schemas.microsoft.com/office/powerpoint/2010/main" val="2571273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8060260-6C6C-8050-E22C-CE3D1729C8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3110025"/>
              </p:ext>
            </p:extLst>
          </p:nvPr>
        </p:nvGraphicFramePr>
        <p:xfrm>
          <a:off x="445062" y="1105764"/>
          <a:ext cx="5510676" cy="3860391"/>
        </p:xfrm>
        <a:graphic>
          <a:graphicData uri="http://schemas.openxmlformats.org/drawingml/2006/table">
            <a:tbl>
              <a:tblPr>
                <a:tableStyleId>{912C8C85-51F0-491E-9774-3900AFEF0FD7}</a:tableStyleId>
              </a:tblPr>
              <a:tblGrid>
                <a:gridCol w="2721592">
                  <a:extLst>
                    <a:ext uri="{9D8B030D-6E8A-4147-A177-3AD203B41FA5}">
                      <a16:colId xmlns:a16="http://schemas.microsoft.com/office/drawing/2014/main" val="1101042904"/>
                    </a:ext>
                  </a:extLst>
                </a:gridCol>
                <a:gridCol w="2789084">
                  <a:extLst>
                    <a:ext uri="{9D8B030D-6E8A-4147-A177-3AD203B41FA5}">
                      <a16:colId xmlns:a16="http://schemas.microsoft.com/office/drawing/2014/main" val="3379444241"/>
                    </a:ext>
                  </a:extLst>
                </a:gridCol>
              </a:tblGrid>
              <a:tr h="339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Feature</a:t>
                      </a: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Description</a:t>
                      </a: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0695489"/>
                  </a:ext>
                </a:extLst>
              </a:tr>
              <a:tr h="577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chr_air_pollution_particulate_matter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Average daily PM2.5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54598031"/>
                  </a:ext>
                </a:extLst>
              </a:tr>
              <a:tr h="6164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chr_severe_housing_problems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% of households with overcrowding, high costs, or poor facilities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85049186"/>
                  </a:ext>
                </a:extLst>
              </a:tr>
              <a:tr h="6164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chr_long_commute_driving_alone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% of solo commuters driving more than 30 minutes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06639057"/>
                  </a:ext>
                </a:extLst>
              </a:tr>
              <a:tr h="61334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chr_drinking_water_violations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Whether a water violation was reported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7239721"/>
                  </a:ext>
                </a:extLst>
              </a:tr>
              <a:tr h="5779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chr_pct_rural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% of the population living in rural areas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35211441"/>
                  </a:ext>
                </a:extLst>
              </a:tr>
              <a:tr h="41531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/>
                        <a:t>rucc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Rural-Urban Continuum Code (1 = large metro, 9 = remote rural)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46481316"/>
                  </a:ext>
                </a:extLst>
              </a:tr>
            </a:tbl>
          </a:graphicData>
        </a:graphic>
      </p:graphicFrame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BC39C5EB-155D-97B0-474E-0A2BB63F70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71840"/>
              </p:ext>
            </p:extLst>
          </p:nvPr>
        </p:nvGraphicFramePr>
        <p:xfrm>
          <a:off x="6416985" y="1105764"/>
          <a:ext cx="5033246" cy="2754140"/>
        </p:xfrm>
        <a:graphic>
          <a:graphicData uri="http://schemas.openxmlformats.org/drawingml/2006/table">
            <a:tbl>
              <a:tblPr>
                <a:tableStyleId>{912C8C85-51F0-491E-9774-3900AFEF0FD7}</a:tableStyleId>
              </a:tblPr>
              <a:tblGrid>
                <a:gridCol w="2491035">
                  <a:extLst>
                    <a:ext uri="{9D8B030D-6E8A-4147-A177-3AD203B41FA5}">
                      <a16:colId xmlns:a16="http://schemas.microsoft.com/office/drawing/2014/main" val="2724014596"/>
                    </a:ext>
                  </a:extLst>
                </a:gridCol>
                <a:gridCol w="2542211">
                  <a:extLst>
                    <a:ext uri="{9D8B030D-6E8A-4147-A177-3AD203B41FA5}">
                      <a16:colId xmlns:a16="http://schemas.microsoft.com/office/drawing/2014/main" val="934923140"/>
                    </a:ext>
                  </a:extLst>
                </a:gridCol>
              </a:tblGrid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Feature</a:t>
                      </a: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Description</a:t>
                      </a:r>
                    </a:p>
                  </a:txBody>
                  <a:tcPr anchor="ctr">
                    <a:solidFill>
                      <a:srgbClr val="969FA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4050124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chr_pct_65_and_older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the population age 65+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1891188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chr_pct_female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of the population that is female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9844704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acs_pct_nh_black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non-Hispanic Black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536118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acs_pct_hispanic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% Hispanic or Latino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46205728"/>
                  </a:ext>
                </a:extLst>
              </a:tr>
              <a:tr h="4748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acs_pct_nh_aian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non-Hispanic American Indian/Alaska Native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5559285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acs_pct_nh_asian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non-Hispanic Asian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41753378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acs_pct_foreign_born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% foreign born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15076556"/>
                  </a:ext>
                </a:extLst>
              </a:tr>
              <a:tr h="2849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 err="1"/>
                        <a:t>acs_log_pop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Log of total population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7388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3565329-C9D5-8F51-A279-ABAAE9F6D9B8}"/>
              </a:ext>
            </a:extLst>
          </p:cNvPr>
          <p:cNvSpPr txBox="1"/>
          <p:nvPr/>
        </p:nvSpPr>
        <p:spPr>
          <a:xfrm>
            <a:off x="647363" y="694908"/>
            <a:ext cx="43696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Environment Features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FBAA34-A58F-2F60-1111-E25BB1C6A4CF}"/>
              </a:ext>
            </a:extLst>
          </p:cNvPr>
          <p:cNvSpPr txBox="1"/>
          <p:nvPr/>
        </p:nvSpPr>
        <p:spPr>
          <a:xfrm>
            <a:off x="6546457" y="653441"/>
            <a:ext cx="3778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Demographic Features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6D7F1D-0507-F723-DF29-2EC422619C8D}"/>
              </a:ext>
            </a:extLst>
          </p:cNvPr>
          <p:cNvSpPr txBox="1"/>
          <p:nvPr/>
        </p:nvSpPr>
        <p:spPr>
          <a:xfrm>
            <a:off x="6732574" y="4357730"/>
            <a:ext cx="322678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Additional Possible Features:  </a:t>
            </a:r>
          </a:p>
          <a:p>
            <a:r>
              <a:rPr lang="en-US" dirty="0" err="1"/>
              <a:t>chr_poor_or_fair_health</a:t>
            </a:r>
            <a:r>
              <a:rPr lang="en-US" dirty="0"/>
              <a:t>, </a:t>
            </a:r>
          </a:p>
          <a:p>
            <a:r>
              <a:rPr lang="en-US" dirty="0" err="1"/>
              <a:t>chr_poor_physical_health_days</a:t>
            </a:r>
            <a:r>
              <a:rPr lang="en-US" dirty="0"/>
              <a:t>, </a:t>
            </a:r>
          </a:p>
          <a:p>
            <a:r>
              <a:rPr lang="en-US" dirty="0" err="1"/>
              <a:t>chr_poor_mental_health_days</a:t>
            </a:r>
            <a:r>
              <a:rPr lang="en-US" dirty="0"/>
              <a:t>, </a:t>
            </a:r>
          </a:p>
          <a:p>
            <a:r>
              <a:rPr lang="en-US" dirty="0" err="1"/>
              <a:t>chr_frequent_physical_distress</a:t>
            </a:r>
            <a:r>
              <a:rPr lang="en-US" dirty="0"/>
              <a:t>, </a:t>
            </a:r>
          </a:p>
          <a:p>
            <a:r>
              <a:rPr lang="en-US" dirty="0" err="1"/>
              <a:t>chr_frequent_mental_distress</a:t>
            </a:r>
            <a:r>
              <a:rPr lang="en-US" dirty="0"/>
              <a:t>, </a:t>
            </a:r>
          </a:p>
          <a:p>
            <a:r>
              <a:rPr lang="en-US" dirty="0" err="1"/>
              <a:t>chr_diabetes_prevalence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47600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B07F3B4-2129-BE29-0166-56DD8FD20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945" y="1259523"/>
            <a:ext cx="9669293" cy="5344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195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D1DA5EA1-3C38-35D0-0DBA-97043A8974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1885" y="1175657"/>
            <a:ext cx="9345329" cy="4784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402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83D25A7-65DC-2846-4752-97FEDC0CC4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24" y="857250"/>
            <a:ext cx="863410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905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7276933-85E7-7E12-7E31-D32532F0B4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453" y="1204617"/>
            <a:ext cx="11151368" cy="4310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2754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itle 25">
            <a:extLst>
              <a:ext uri="{FF2B5EF4-FFF2-40B4-BE49-F238E27FC236}">
                <a16:creationId xmlns:a16="http://schemas.microsoft.com/office/drawing/2014/main" id="{D715DBBC-70C2-E94B-9B03-12910F0B5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Next </a:t>
            </a:r>
            <a:r>
              <a:rPr lang="en-US" dirty="0" err="1"/>
              <a:t>PhaseS</a:t>
            </a:r>
            <a:endParaRPr lang="en-US" dirty="0"/>
          </a:p>
        </p:txBody>
      </p:sp>
      <p:pic>
        <p:nvPicPr>
          <p:cNvPr id="21" name="Picture Placeholder 20" descr="Two people smiling while holding coffee">
            <a:extLst>
              <a:ext uri="{FF2B5EF4-FFF2-40B4-BE49-F238E27FC236}">
                <a16:creationId xmlns:a16="http://schemas.microsoft.com/office/drawing/2014/main" id="{75E7485A-FBCC-4222-2274-2B2A0804BC97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 l="38" r="38"/>
          <a:stretch/>
        </p:blipFill>
        <p:spPr/>
      </p:pic>
      <p:sp>
        <p:nvSpPr>
          <p:cNvPr id="33" name="Content Placeholder 32">
            <a:extLst>
              <a:ext uri="{FF2B5EF4-FFF2-40B4-BE49-F238E27FC236}">
                <a16:creationId xmlns:a16="http://schemas.microsoft.com/office/drawing/2014/main" id="{D3AEB1C4-FB60-9B8E-5A02-0BCD2B6E55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Pick final list of metrics based on correlation results.  </a:t>
            </a:r>
          </a:p>
          <a:p>
            <a:r>
              <a:rPr lang="en-US" dirty="0"/>
              <a:t>Potentially add new data sources: IRS migration data. BLS QCEW – Show occupation level data, Opportunity Insights Social Capital Atlas – how much low and high income residents interact.</a:t>
            </a:r>
          </a:p>
          <a:p>
            <a:r>
              <a:rPr lang="en-US" dirty="0"/>
              <a:t>Run multiple models.  </a:t>
            </a:r>
          </a:p>
          <a:p>
            <a:r>
              <a:rPr lang="en-US" dirty="0"/>
              <a:t>Create Website with map with counties selectable.  Provide details of each county when selected.  Things that are red warnings that could be causing higher than norm of life expectancy.</a:t>
            </a:r>
          </a:p>
          <a:p>
            <a:r>
              <a:rPr lang="en-US" dirty="0"/>
              <a:t>Comparison to total life expectancy metrics.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44247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VTI">
  <a:themeElements>
    <a:clrScheme name="DividendVTI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ED8428"/>
      </a:accent1>
      <a:accent2>
        <a:srgbClr val="E6C46D"/>
      </a:accent2>
      <a:accent3>
        <a:srgbClr val="537685"/>
      </a:accent3>
      <a:accent4>
        <a:srgbClr val="969FA7"/>
      </a:accent4>
      <a:accent5>
        <a:srgbClr val="A9C37C"/>
      </a:accent5>
      <a:accent6>
        <a:srgbClr val="5A8071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19D1F84C-D1FD-4B1B-9CFD-8E0D96AC4DF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037C456-A6DA-4DEE-A3FB-4EC3058FD08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A00B2AC-C335-4100-B8B3-2D9F49A729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{8A554192-FCEB-489F-8E52-FEC3E5D13A38}TF44327b14-72fa-4a42-8e82-8afcf10927fa9096c001_win32-283260f3ca19</Template>
  <TotalTime>341</TotalTime>
  <Words>1104</Words>
  <Application>Microsoft Office PowerPoint</Application>
  <PresentationFormat>Widescreen</PresentationFormat>
  <Paragraphs>261</Paragraphs>
  <Slides>12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Gill Sans MT</vt:lpstr>
      <vt:lpstr>Helvetica Neue</vt:lpstr>
      <vt:lpstr>Wingdings 2</vt:lpstr>
      <vt:lpstr>DividendVTI</vt:lpstr>
      <vt:lpstr>  US Life Expectancy Across US Counties After AGE 50  Michael Tyler DATA 606 – Data Science Capstone </vt:lpstr>
      <vt:lpstr>Overview </vt:lpstr>
      <vt:lpstr>Data Sources</vt:lpstr>
      <vt:lpstr>Attributes Dropped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Next PhaseS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Tyler, Michael W</dc:creator>
  <cp:lastModifiedBy>Tyler, Michael W</cp:lastModifiedBy>
  <cp:revision>10</cp:revision>
  <dcterms:created xsi:type="dcterms:W3CDTF">2026-09-17T16:46:36Z</dcterms:created>
  <dcterms:modified xsi:type="dcterms:W3CDTF">2026-09-17T22:45:23Z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