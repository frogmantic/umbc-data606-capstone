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9" r:id="rId4"/>
  </p:sldMasterIdLst>
  <p:notesMasterIdLst>
    <p:notesMasterId r:id="rId17"/>
  </p:notesMasterIdLst>
  <p:handoutMasterIdLst>
    <p:handoutMasterId r:id="rId18"/>
  </p:handoutMasterIdLst>
  <p:sldIdLst>
    <p:sldId id="256" r:id="rId5"/>
    <p:sldId id="292" r:id="rId6"/>
    <p:sldId id="266" r:id="rId7"/>
    <p:sldId id="295" r:id="rId8"/>
    <p:sldId id="293" r:id="rId9"/>
    <p:sldId id="296" r:id="rId10"/>
    <p:sldId id="297" r:id="rId11"/>
    <p:sldId id="283" r:id="rId12"/>
    <p:sldId id="264" r:id="rId13"/>
    <p:sldId id="289" r:id="rId14"/>
    <p:sldId id="298" r:id="rId15"/>
    <p:sldId id="28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9FA7"/>
    <a:srgbClr val="4653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5388" autoAdjust="0"/>
  </p:normalViewPr>
  <p:slideViewPr>
    <p:cSldViewPr snapToGrid="0" showGuides="1">
      <p:cViewPr varScale="1">
        <p:scale>
          <a:sx n="118" d="100"/>
          <a:sy n="118" d="100"/>
        </p:scale>
        <p:origin x="198" y="108"/>
      </p:cViewPr>
      <p:guideLst/>
    </p:cSldViewPr>
  </p:slideViewPr>
  <p:outlineViewPr>
    <p:cViewPr>
      <p:scale>
        <a:sx n="33" d="100"/>
        <a:sy n="33" d="100"/>
      </p:scale>
      <p:origin x="0" y="-498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C3C3A6-B337-4D83-9CDB-B9C35780FF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C79A68-3D73-4695-8C1E-3CDBCB536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7C6B7-F63D-48F8-8C65-A57506B0F13B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F5045C-A7CE-41D4-85C5-0E9ACEEF9B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ABD0F-F8EA-4B9F-8647-FC7D4AE3D8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B78DD-9481-4863-BCCC-946573546D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0403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09A0FA-2191-4F92-A1E4-6EB4598AC4EC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359F2-43EF-4812-9DC0-98C0B1A406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11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523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850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574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793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704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027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289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0239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803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6615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5753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14896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61492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91554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97532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20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8907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864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73301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39887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1937252-EACE-4232-855F-5C47E3F8B0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1070901"/>
            <a:ext cx="11265407" cy="1499616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CBA6DBC1-39A1-48A6-8B81-3CD966D06E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8055" y="3103684"/>
            <a:ext cx="11274551" cy="3287971"/>
          </a:xfrm>
          <a:solidFill>
            <a:schemeClr val="accent2"/>
          </a:solidFill>
        </p:spPr>
        <p:txBody>
          <a:bodyPr anchor="t" anchorCtr="0">
            <a:norm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28195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26BD44-2224-46FF-A4E7-9C9FFE197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79"/>
            <a:ext cx="3657600" cy="2100851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C87D77D-2EA4-028B-1ACF-E1120CE8F0E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7201" y="2862470"/>
            <a:ext cx="3657600" cy="3510898"/>
          </a:xfrm>
        </p:spPr>
        <p:txBody>
          <a:bodyPr anchor="t" anchorCtr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CFA45C0-9EBE-13AF-9B5D-9D5F4BF223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42815" y="640080"/>
            <a:ext cx="7491984" cy="5751576"/>
          </a:xfrm>
          <a:custGeom>
            <a:avLst/>
            <a:gdLst>
              <a:gd name="connsiteX0" fmla="*/ 3800341 w 7491984"/>
              <a:gd name="connsiteY0" fmla="*/ 0 h 5751576"/>
              <a:gd name="connsiteX1" fmla="*/ 7491984 w 7491984"/>
              <a:gd name="connsiteY1" fmla="*/ 0 h 5751576"/>
              <a:gd name="connsiteX2" fmla="*/ 7491984 w 7491984"/>
              <a:gd name="connsiteY2" fmla="*/ 5751576 h 5751576"/>
              <a:gd name="connsiteX3" fmla="*/ 3800341 w 7491984"/>
              <a:gd name="connsiteY3" fmla="*/ 5751576 h 5751576"/>
              <a:gd name="connsiteX4" fmla="*/ 0 w 7491984"/>
              <a:gd name="connsiteY4" fmla="*/ 0 h 5751576"/>
              <a:gd name="connsiteX5" fmla="*/ 3696432 w 7491984"/>
              <a:gd name="connsiteY5" fmla="*/ 0 h 5751576"/>
              <a:gd name="connsiteX6" fmla="*/ 3696432 w 7491984"/>
              <a:gd name="connsiteY6" fmla="*/ 5751576 h 5751576"/>
              <a:gd name="connsiteX7" fmla="*/ 0 w 7491984"/>
              <a:gd name="connsiteY7" fmla="*/ 5751576 h 575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1984" h="5751576">
                <a:moveTo>
                  <a:pt x="3800341" y="0"/>
                </a:moveTo>
                <a:lnTo>
                  <a:pt x="7491984" y="0"/>
                </a:lnTo>
                <a:lnTo>
                  <a:pt x="7491984" y="5751576"/>
                </a:lnTo>
                <a:lnTo>
                  <a:pt x="3800341" y="5751576"/>
                </a:lnTo>
                <a:close/>
                <a:moveTo>
                  <a:pt x="0" y="0"/>
                </a:moveTo>
                <a:lnTo>
                  <a:pt x="3696432" y="0"/>
                </a:lnTo>
                <a:lnTo>
                  <a:pt x="3696432" y="5751576"/>
                </a:lnTo>
                <a:lnTo>
                  <a:pt x="0" y="575157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5DDC5FA-EEDB-898F-533E-4094ADA899B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79B0359-4B55-D899-E584-A8E6B2ED912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916D02-76FE-EAED-CC51-A50448811F7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82289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417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E787D40-90B5-470E-95A2-784F1CB479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9580" y="4423702"/>
            <a:ext cx="11292839" cy="1550378"/>
          </a:xfrm>
        </p:spPr>
        <p:txBody>
          <a:bodyPr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28BC27-38F1-47F3-EC35-7DD8B88A75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80" y="705104"/>
            <a:ext cx="11292840" cy="3643376"/>
          </a:xfrm>
          <a:custGeom>
            <a:avLst/>
            <a:gdLst>
              <a:gd name="connsiteX0" fmla="*/ 7593576 w 11292840"/>
              <a:gd name="connsiteY0" fmla="*/ 0 h 3643376"/>
              <a:gd name="connsiteX1" fmla="*/ 11292840 w 11292840"/>
              <a:gd name="connsiteY1" fmla="*/ 0 h 3643376"/>
              <a:gd name="connsiteX2" fmla="*/ 11292840 w 11292840"/>
              <a:gd name="connsiteY2" fmla="*/ 3643376 h 3643376"/>
              <a:gd name="connsiteX3" fmla="*/ 7593576 w 11292840"/>
              <a:gd name="connsiteY3" fmla="*/ 3643376 h 3643376"/>
              <a:gd name="connsiteX4" fmla="*/ 0 w 11292840"/>
              <a:gd name="connsiteY4" fmla="*/ 0 h 3643376"/>
              <a:gd name="connsiteX5" fmla="*/ 7489667 w 11292840"/>
              <a:gd name="connsiteY5" fmla="*/ 0 h 3643376"/>
              <a:gd name="connsiteX6" fmla="*/ 7489667 w 11292840"/>
              <a:gd name="connsiteY6" fmla="*/ 3643376 h 3643376"/>
              <a:gd name="connsiteX7" fmla="*/ 0 w 11292840"/>
              <a:gd name="connsiteY7" fmla="*/ 3643376 h 3643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92840" h="3643376">
                <a:moveTo>
                  <a:pt x="7593576" y="0"/>
                </a:moveTo>
                <a:lnTo>
                  <a:pt x="11292840" y="0"/>
                </a:lnTo>
                <a:lnTo>
                  <a:pt x="11292840" y="3643376"/>
                </a:lnTo>
                <a:lnTo>
                  <a:pt x="7593576" y="3643376"/>
                </a:lnTo>
                <a:close/>
                <a:moveTo>
                  <a:pt x="0" y="0"/>
                </a:moveTo>
                <a:lnTo>
                  <a:pt x="7489667" y="0"/>
                </a:lnTo>
                <a:lnTo>
                  <a:pt x="7489667" y="3643376"/>
                </a:lnTo>
                <a:lnTo>
                  <a:pt x="0" y="364337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3343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2" y="629920"/>
            <a:ext cx="3606800" cy="2809240"/>
          </a:xfrm>
        </p:spPr>
        <p:txBody>
          <a:bodyPr anchor="b">
            <a:no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881" y="3698240"/>
            <a:ext cx="3606800" cy="2271076"/>
          </a:xfrm>
        </p:spPr>
        <p:txBody>
          <a:bodyPr anchor="t">
            <a:no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2608" y="6423914"/>
            <a:ext cx="105251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54FD2A1-D363-7C44-2A72-54E8B397D3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6720" y="650240"/>
            <a:ext cx="7518398" cy="5713918"/>
          </a:xfrm>
          <a:custGeom>
            <a:avLst/>
            <a:gdLst>
              <a:gd name="connsiteX0" fmla="*/ 3806436 w 7518398"/>
              <a:gd name="connsiteY0" fmla="*/ 4479475 h 5713918"/>
              <a:gd name="connsiteX1" fmla="*/ 7518398 w 7518398"/>
              <a:gd name="connsiteY1" fmla="*/ 4479475 h 5713918"/>
              <a:gd name="connsiteX2" fmla="*/ 7518398 w 7518398"/>
              <a:gd name="connsiteY2" fmla="*/ 5713918 h 5713918"/>
              <a:gd name="connsiteX3" fmla="*/ 3806436 w 7518398"/>
              <a:gd name="connsiteY3" fmla="*/ 5713918 h 5713918"/>
              <a:gd name="connsiteX4" fmla="*/ 0 w 7518398"/>
              <a:gd name="connsiteY4" fmla="*/ 4479475 h 5713918"/>
              <a:gd name="connsiteX5" fmla="*/ 3702527 w 7518398"/>
              <a:gd name="connsiteY5" fmla="*/ 4479475 h 5713918"/>
              <a:gd name="connsiteX6" fmla="*/ 3702527 w 7518398"/>
              <a:gd name="connsiteY6" fmla="*/ 5713918 h 5713918"/>
              <a:gd name="connsiteX7" fmla="*/ 0 w 7518398"/>
              <a:gd name="connsiteY7" fmla="*/ 5713918 h 5713918"/>
              <a:gd name="connsiteX8" fmla="*/ 3806436 w 7518398"/>
              <a:gd name="connsiteY8" fmla="*/ 0 h 5713918"/>
              <a:gd name="connsiteX9" fmla="*/ 7518398 w 7518398"/>
              <a:gd name="connsiteY9" fmla="*/ 0 h 5713918"/>
              <a:gd name="connsiteX10" fmla="*/ 7518398 w 7518398"/>
              <a:gd name="connsiteY10" fmla="*/ 4379183 h 5713918"/>
              <a:gd name="connsiteX11" fmla="*/ 3806436 w 7518398"/>
              <a:gd name="connsiteY11" fmla="*/ 4379183 h 5713918"/>
              <a:gd name="connsiteX12" fmla="*/ 0 w 7518398"/>
              <a:gd name="connsiteY12" fmla="*/ 0 h 5713918"/>
              <a:gd name="connsiteX13" fmla="*/ 3702527 w 7518398"/>
              <a:gd name="connsiteY13" fmla="*/ 0 h 5713918"/>
              <a:gd name="connsiteX14" fmla="*/ 3702527 w 7518398"/>
              <a:gd name="connsiteY14" fmla="*/ 4379183 h 5713918"/>
              <a:gd name="connsiteX15" fmla="*/ 0 w 7518398"/>
              <a:gd name="connsiteY15" fmla="*/ 4379183 h 5713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518398" h="5713918">
                <a:moveTo>
                  <a:pt x="3806436" y="4479475"/>
                </a:moveTo>
                <a:lnTo>
                  <a:pt x="7518398" y="4479475"/>
                </a:lnTo>
                <a:lnTo>
                  <a:pt x="7518398" y="5713918"/>
                </a:lnTo>
                <a:lnTo>
                  <a:pt x="3806436" y="5713918"/>
                </a:lnTo>
                <a:close/>
                <a:moveTo>
                  <a:pt x="0" y="4479475"/>
                </a:moveTo>
                <a:lnTo>
                  <a:pt x="3702527" y="4479475"/>
                </a:lnTo>
                <a:lnTo>
                  <a:pt x="3702527" y="5713918"/>
                </a:lnTo>
                <a:lnTo>
                  <a:pt x="0" y="5713918"/>
                </a:lnTo>
                <a:close/>
                <a:moveTo>
                  <a:pt x="3806436" y="0"/>
                </a:moveTo>
                <a:lnTo>
                  <a:pt x="7518398" y="0"/>
                </a:lnTo>
                <a:lnTo>
                  <a:pt x="7518398" y="4379183"/>
                </a:lnTo>
                <a:lnTo>
                  <a:pt x="3806436" y="4379183"/>
                </a:lnTo>
                <a:close/>
                <a:moveTo>
                  <a:pt x="0" y="0"/>
                </a:moveTo>
                <a:lnTo>
                  <a:pt x="3702527" y="0"/>
                </a:lnTo>
                <a:lnTo>
                  <a:pt x="3702527" y="4379183"/>
                </a:lnTo>
                <a:lnTo>
                  <a:pt x="0" y="437918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779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9CC542F-D03C-4537-9B6E-7F653B6515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78091"/>
            <a:ext cx="3729789" cy="3440485"/>
          </a:xfrm>
        </p:spPr>
        <p:txBody>
          <a:bodyPr tIns="182880" bIns="182880" anchor="ctr" anchorCtr="0">
            <a:noAutofit/>
          </a:bodyPr>
          <a:lstStyle/>
          <a:p>
            <a:r>
              <a:rPr lang="en-US" dirty="0"/>
              <a:t>Click to add title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0F1D2B-CBE7-6279-2158-7A9F3B5D5C6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57200" y="670560"/>
            <a:ext cx="11267440" cy="2139696"/>
          </a:xfrm>
          <a:custGeom>
            <a:avLst/>
            <a:gdLst>
              <a:gd name="connsiteX0" fmla="*/ 3783068 w 11267440"/>
              <a:gd name="connsiteY0" fmla="*/ 0 h 2139696"/>
              <a:gd name="connsiteX1" fmla="*/ 11267440 w 11267440"/>
              <a:gd name="connsiteY1" fmla="*/ 0 h 2139696"/>
              <a:gd name="connsiteX2" fmla="*/ 11267440 w 11267440"/>
              <a:gd name="connsiteY2" fmla="*/ 2139696 h 2139696"/>
              <a:gd name="connsiteX3" fmla="*/ 3783068 w 11267440"/>
              <a:gd name="connsiteY3" fmla="*/ 2139696 h 2139696"/>
              <a:gd name="connsiteX4" fmla="*/ 0 w 11267440"/>
              <a:gd name="connsiteY4" fmla="*/ 0 h 2139696"/>
              <a:gd name="connsiteX5" fmla="*/ 3677799 w 11267440"/>
              <a:gd name="connsiteY5" fmla="*/ 0 h 2139696"/>
              <a:gd name="connsiteX6" fmla="*/ 3677799 w 11267440"/>
              <a:gd name="connsiteY6" fmla="*/ 2139696 h 2139696"/>
              <a:gd name="connsiteX7" fmla="*/ 0 w 11267440"/>
              <a:gd name="connsiteY7" fmla="*/ 2139696 h 2139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67440" h="2139696">
                <a:moveTo>
                  <a:pt x="3783068" y="0"/>
                </a:moveTo>
                <a:lnTo>
                  <a:pt x="11267440" y="0"/>
                </a:lnTo>
                <a:lnTo>
                  <a:pt x="11267440" y="2139696"/>
                </a:lnTo>
                <a:lnTo>
                  <a:pt x="3783068" y="2139696"/>
                </a:lnTo>
                <a:close/>
                <a:moveTo>
                  <a:pt x="0" y="0"/>
                </a:moveTo>
                <a:lnTo>
                  <a:pt x="3677799" y="0"/>
                </a:lnTo>
                <a:lnTo>
                  <a:pt x="3677799" y="2139696"/>
                </a:lnTo>
                <a:lnTo>
                  <a:pt x="0" y="213969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35EE74D-5A60-B83C-5C2D-7B6FEA778FC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05827" y="2878091"/>
            <a:ext cx="7418813" cy="3440485"/>
          </a:xfrm>
        </p:spPr>
        <p:txBody>
          <a:bodyPr anchor="ctr" anchorCtr="0">
            <a:normAutofit/>
          </a:bodyPr>
          <a:lstStyle>
            <a:lvl1pPr marL="283464" indent="-283464">
              <a:buFont typeface="Arial" panose="020B0604020202020204" pitchFamily="34" charset="0"/>
              <a:buChar char="•"/>
              <a:defRPr/>
            </a:lvl1pPr>
            <a:lvl2pPr marL="283464" indent="-283464">
              <a:buFont typeface="Arial" panose="020B0604020202020204" pitchFamily="34" charset="0"/>
              <a:buChar char="•"/>
              <a:defRPr/>
            </a:lvl2pPr>
            <a:lvl3pPr marL="283464" indent="-283464">
              <a:buFont typeface="Arial" panose="020B0604020202020204" pitchFamily="34" charset="0"/>
              <a:buChar char="•"/>
              <a:defRPr/>
            </a:lvl3pPr>
            <a:lvl4pPr marL="283464" indent="-283464">
              <a:buFont typeface="Arial" panose="020B0604020202020204" pitchFamily="34" charset="0"/>
              <a:buChar char="•"/>
              <a:defRPr/>
            </a:lvl4pPr>
            <a:lvl5pPr marL="283464" indent="-283464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BCF1FAD-0BAD-2574-3352-B152DF76C15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C328E41-645E-D257-FFF3-93344A8E4FA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EF9E45A-6561-C074-14CE-B3B63476D22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67213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583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3000"/>
            <a:ext cx="9144000" cy="2585720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99840"/>
            <a:ext cx="9144000" cy="2052320"/>
          </a:xfrm>
        </p:spPr>
        <p:txBody>
          <a:bodyPr anchor="t"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6853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690880"/>
            <a:ext cx="1126744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CA520B1-DC84-A47D-1F5E-CCD567EB2D8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57200" y="2187362"/>
            <a:ext cx="3657600" cy="3633047"/>
          </a:xfrm>
        </p:spPr>
        <p:txBody>
          <a:bodyPr anchor="t"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914400" indent="-342900">
              <a:buFont typeface="+mj-lt"/>
              <a:buAutoNum type="alphaLcPeriod"/>
              <a:defRPr sz="1800"/>
            </a:lvl2pPr>
            <a:lvl3pPr marL="1371600" indent="-342900">
              <a:buFont typeface="+mj-lt"/>
              <a:buAutoNum type="arabicPeriod"/>
              <a:defRPr sz="1800"/>
            </a:lvl3pPr>
            <a:lvl4pPr marL="1600200" indent="-342900">
              <a:buFont typeface="+mj-lt"/>
              <a:buAutoNum type="alphaLcParenR"/>
              <a:defRPr sz="1800"/>
            </a:lvl4pPr>
            <a:lvl5pPr marL="2057400" indent="-40005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282437" y="2187361"/>
            <a:ext cx="7442203" cy="3633047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0">
              <a:defRPr sz="1800"/>
            </a:lvl2pPr>
            <a:lvl3pPr marL="548640">
              <a:defRPr sz="1800"/>
            </a:lvl3pPr>
            <a:lvl4pPr marL="822960">
              <a:defRPr sz="1800"/>
            </a:lvl4pPr>
            <a:lvl5pPr marL="1097280"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23914"/>
            <a:ext cx="704120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16634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8338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08219" y="741363"/>
            <a:ext cx="5626579" cy="1286219"/>
          </a:xfrm>
        </p:spPr>
        <p:txBody>
          <a:bodyPr anchor="b">
            <a:no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CBE840D-FAED-31D9-AF31-112670D0FA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761684"/>
            <a:ext cx="5171440" cy="5662230"/>
          </a:xfrm>
          <a:custGeom>
            <a:avLst/>
            <a:gdLst>
              <a:gd name="connsiteX0" fmla="*/ 0 w 5171440"/>
              <a:gd name="connsiteY0" fmla="*/ 5056400 h 5662230"/>
              <a:gd name="connsiteX1" fmla="*/ 3685975 w 5171440"/>
              <a:gd name="connsiteY1" fmla="*/ 5056400 h 5662230"/>
              <a:gd name="connsiteX2" fmla="*/ 3685975 w 5171440"/>
              <a:gd name="connsiteY2" fmla="*/ 5662230 h 5662230"/>
              <a:gd name="connsiteX3" fmla="*/ 0 w 5171440"/>
              <a:gd name="connsiteY3" fmla="*/ 5662230 h 5662230"/>
              <a:gd name="connsiteX4" fmla="*/ 3789884 w 5171440"/>
              <a:gd name="connsiteY4" fmla="*/ 0 h 5662230"/>
              <a:gd name="connsiteX5" fmla="*/ 5171440 w 5171440"/>
              <a:gd name="connsiteY5" fmla="*/ 0 h 5662230"/>
              <a:gd name="connsiteX6" fmla="*/ 5171440 w 5171440"/>
              <a:gd name="connsiteY6" fmla="*/ 5662230 h 5662230"/>
              <a:gd name="connsiteX7" fmla="*/ 3789884 w 5171440"/>
              <a:gd name="connsiteY7" fmla="*/ 5662230 h 5662230"/>
              <a:gd name="connsiteX8" fmla="*/ 3789884 w 5171440"/>
              <a:gd name="connsiteY8" fmla="*/ 5056400 h 5662230"/>
              <a:gd name="connsiteX9" fmla="*/ 5168980 w 5171440"/>
              <a:gd name="connsiteY9" fmla="*/ 5056400 h 5662230"/>
              <a:gd name="connsiteX10" fmla="*/ 5168980 w 5171440"/>
              <a:gd name="connsiteY10" fmla="*/ 4956108 h 5662230"/>
              <a:gd name="connsiteX11" fmla="*/ 3789884 w 5171440"/>
              <a:gd name="connsiteY11" fmla="*/ 4956108 h 5662230"/>
              <a:gd name="connsiteX12" fmla="*/ 0 w 5171440"/>
              <a:gd name="connsiteY12" fmla="*/ 0 h 5662230"/>
              <a:gd name="connsiteX13" fmla="*/ 3685975 w 5171440"/>
              <a:gd name="connsiteY13" fmla="*/ 0 h 5662230"/>
              <a:gd name="connsiteX14" fmla="*/ 3685975 w 5171440"/>
              <a:gd name="connsiteY14" fmla="*/ 4956108 h 5662230"/>
              <a:gd name="connsiteX15" fmla="*/ 0 w 5171440"/>
              <a:gd name="connsiteY15" fmla="*/ 4956108 h 5662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71440" h="5662230">
                <a:moveTo>
                  <a:pt x="0" y="5056400"/>
                </a:moveTo>
                <a:lnTo>
                  <a:pt x="3685975" y="5056400"/>
                </a:lnTo>
                <a:lnTo>
                  <a:pt x="3685975" y="5662230"/>
                </a:lnTo>
                <a:lnTo>
                  <a:pt x="0" y="5662230"/>
                </a:lnTo>
                <a:close/>
                <a:moveTo>
                  <a:pt x="3789884" y="0"/>
                </a:moveTo>
                <a:lnTo>
                  <a:pt x="5171440" y="0"/>
                </a:lnTo>
                <a:lnTo>
                  <a:pt x="5171440" y="5662230"/>
                </a:lnTo>
                <a:lnTo>
                  <a:pt x="3789884" y="5662230"/>
                </a:lnTo>
                <a:lnTo>
                  <a:pt x="3789884" y="5056400"/>
                </a:lnTo>
                <a:lnTo>
                  <a:pt x="5168980" y="5056400"/>
                </a:lnTo>
                <a:lnTo>
                  <a:pt x="5168980" y="4956108"/>
                </a:lnTo>
                <a:lnTo>
                  <a:pt x="3789884" y="4956108"/>
                </a:lnTo>
                <a:close/>
                <a:moveTo>
                  <a:pt x="0" y="0"/>
                </a:moveTo>
                <a:lnTo>
                  <a:pt x="3685975" y="0"/>
                </a:lnTo>
                <a:lnTo>
                  <a:pt x="3685975" y="4956108"/>
                </a:lnTo>
                <a:lnTo>
                  <a:pt x="0" y="495610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22983C-26B8-DE15-E309-D0E93B8C699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06160" y="2235200"/>
            <a:ext cx="5628639" cy="4188713"/>
          </a:xfrm>
        </p:spPr>
        <p:txBody>
          <a:bodyPr anchor="t" anchorCtr="0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2289" y="6423914"/>
            <a:ext cx="105251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633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457D222-120F-E222-DE7E-B44B0BC1863F}"/>
              </a:ext>
            </a:extLst>
          </p:cNvPr>
          <p:cNvGrpSpPr/>
          <p:nvPr userDrawn="1"/>
        </p:nvGrpSpPr>
        <p:grpSpPr>
          <a:xfrm>
            <a:off x="428696" y="482137"/>
            <a:ext cx="11301155" cy="81191"/>
            <a:chOff x="428696" y="482137"/>
            <a:chExt cx="11301155" cy="811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DF259B-1168-B954-21F8-A08A3C462F3C}"/>
                </a:ext>
              </a:extLst>
            </p:cNvPr>
            <p:cNvSpPr/>
            <p:nvPr/>
          </p:nvSpPr>
          <p:spPr>
            <a:xfrm flipV="1">
              <a:off x="428696" y="482137"/>
              <a:ext cx="3703321" cy="81191"/>
            </a:xfrm>
            <a:prstGeom prst="rect">
              <a:avLst/>
            </a:prstGeom>
            <a:solidFill>
              <a:schemeClr val="accent3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B5A595C-AA3A-9D82-01BB-7810CE5F7A5E}"/>
                </a:ext>
              </a:extLst>
            </p:cNvPr>
            <p:cNvSpPr/>
            <p:nvPr/>
          </p:nvSpPr>
          <p:spPr>
            <a:xfrm flipV="1">
              <a:off x="4235926" y="482137"/>
              <a:ext cx="3703321" cy="81191"/>
            </a:xfrm>
            <a:prstGeom prst="rect">
              <a:avLst/>
            </a:prstGeom>
            <a:solidFill>
              <a:schemeClr val="accent1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178CB63-8F78-566B-8120-9DC73FB7B23B}"/>
                </a:ext>
              </a:extLst>
            </p:cNvPr>
            <p:cNvSpPr/>
            <p:nvPr/>
          </p:nvSpPr>
          <p:spPr>
            <a:xfrm flipV="1">
              <a:off x="8026530" y="482137"/>
              <a:ext cx="3703321" cy="81191"/>
            </a:xfrm>
            <a:prstGeom prst="rect">
              <a:avLst/>
            </a:prstGeom>
            <a:solidFill>
              <a:schemeClr val="accent4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091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2" r:id="rId13"/>
    <p:sldLayoutId id="2147483813" r:id="rId14"/>
    <p:sldLayoutId id="2147483814" r:id="rId15"/>
    <p:sldLayoutId id="2147483815" r:id="rId16"/>
    <p:sldLayoutId id="2147483816" r:id="rId17"/>
    <p:sldLayoutId id="2147483817" r:id="rId18"/>
    <p:sldLayoutId id="2147483818" r:id="rId19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79F0267-9D1C-BDA9-A152-B01CD379F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5" y="909060"/>
            <a:ext cx="11265407" cy="2194624"/>
          </a:xfrm>
        </p:spPr>
        <p:txBody>
          <a:bodyPr/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US Life Expectancy Across US Counties After AGE 50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Michael Tyler</a:t>
            </a:r>
            <a:br>
              <a:rPr lang="en-US" dirty="0"/>
            </a:br>
            <a:r>
              <a:rPr lang="en-US" dirty="0"/>
              <a:t>DATA 606 – Data Science Capstone</a:t>
            </a:r>
            <a:br>
              <a:rPr lang="en-US" dirty="0"/>
            </a:br>
            <a:endParaRPr lang="en-US" dirty="0"/>
          </a:p>
        </p:txBody>
      </p:sp>
      <p:pic>
        <p:nvPicPr>
          <p:cNvPr id="10" name="Picture Placeholder 9" descr="A stethoscope on a clipboard">
            <a:extLst>
              <a:ext uri="{FF2B5EF4-FFF2-40B4-BE49-F238E27FC236}">
                <a16:creationId xmlns:a16="http://schemas.microsoft.com/office/drawing/2014/main" id="{CC4B82FA-2EA0-5319-6B9C-8D78349FCB0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t="28164" b="28164"/>
          <a:stretch/>
        </p:blipFill>
        <p:spPr/>
      </p:pic>
    </p:spTree>
    <p:extLst>
      <p:ext uri="{BB962C8B-B14F-4D97-AF65-F5344CB8AC3E}">
        <p14:creationId xmlns:p14="http://schemas.microsoft.com/office/powerpoint/2010/main" val="103975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B23E1E4-7CB2-923B-9D41-672CB85E0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80"/>
            <a:ext cx="3657600" cy="970236"/>
          </a:xfrm>
        </p:spPr>
        <p:txBody>
          <a:bodyPr/>
          <a:lstStyle/>
          <a:p>
            <a:r>
              <a:rPr lang="en-US" dirty="0"/>
              <a:t>Overview	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A667A9A-3428-68BE-D555-0DE1859FD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7201" y="1885444"/>
            <a:ext cx="3657600" cy="4487924"/>
          </a:xfrm>
        </p:spPr>
        <p:txBody>
          <a:bodyPr/>
          <a:lstStyle/>
          <a:p>
            <a:r>
              <a:rPr lang="en-US" dirty="0"/>
              <a:t>US Life Expectancy Lags behind other developed countries and varies by more than 20 years across US Counties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Which social, economic, behavioral, and healthcare factors predict county life expectancy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Live expectancy overall is studied well this will focus on Life Expectancy after age 50.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Will use five data sources that include 3079 Counties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pic>
        <p:nvPicPr>
          <p:cNvPr id="34" name="Picture Placeholder 21" descr="A close-up of a stethoscope">
            <a:extLst>
              <a:ext uri="{FF2B5EF4-FFF2-40B4-BE49-F238E27FC236}">
                <a16:creationId xmlns:a16="http://schemas.microsoft.com/office/drawing/2014/main" id="{63F55FD3-B051-BD22-347E-065B72C87E1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48" r="148"/>
          <a:stretch/>
        </p:blipFill>
        <p:spPr>
          <a:xfrm>
            <a:off x="6400799" y="640080"/>
            <a:ext cx="5333999" cy="5751576"/>
          </a:xfrm>
        </p:spPr>
      </p:pic>
    </p:spTree>
    <p:extLst>
      <p:ext uri="{BB962C8B-B14F-4D97-AF65-F5344CB8AC3E}">
        <p14:creationId xmlns:p14="http://schemas.microsoft.com/office/powerpoint/2010/main" val="2201125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70BA2A-9860-BB05-E49E-957A19AA3B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9580" y="712099"/>
            <a:ext cx="11292839" cy="851822"/>
          </a:xfrm>
        </p:spPr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4648B0-B50D-BC8A-9A2C-1FCD2A3B7E73}"/>
              </a:ext>
            </a:extLst>
          </p:cNvPr>
          <p:cNvSpPr txBox="1"/>
          <p:nvPr/>
        </p:nvSpPr>
        <p:spPr>
          <a:xfrm>
            <a:off x="679731" y="1650774"/>
            <a:ext cx="11167009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IHME County Life Expectancy Data File </a:t>
            </a:r>
            <a:r>
              <a:rPr lang="en-US" sz="1400" dirty="0"/>
              <a:t>(University of Washington):  The Institute for Health Metrics and Evaluation published life expectancy for each age group, sex, year, and racial-ethnic group.  We will use this for are over 50 age group and at birth group as a comparison.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County Health Rankings Analytic Data </a:t>
            </a:r>
            <a:r>
              <a:rPr lang="en-US" sz="1400" dirty="0"/>
              <a:t>(University of Wisconsin): Non-Census predictors: smoking, obesity, physical inactivity, excessive drinking, sleep, food environment, exercise access, uninsured adults, provider supply (primary care, dentists, mental health), preventable hospital stays, screening and flu vaccination by county.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Census American Community Survey:  </a:t>
            </a:r>
            <a:r>
              <a:rPr lang="en-US" sz="1400" dirty="0"/>
              <a:t>Standard for county socioeconomic data.  Includes data such as: household income, income inequality home values, poverty, unemployment, educational level.</a:t>
            </a:r>
          </a:p>
          <a:p>
            <a:pPr marL="342900" indent="-342900">
              <a:buFont typeface="+mj-lt"/>
              <a:buAutoNum type="arabicPeriod"/>
            </a:pPr>
            <a:endParaRPr lang="en-US" sz="1400" b="1" dirty="0"/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USDA ERS Rural-Urban Continuum Codes</a:t>
            </a:r>
            <a:r>
              <a:rPr lang="en-US" sz="1400" dirty="0"/>
              <a:t>:  Give a score from one to nine on the rurality of a county.  From Urban Center, Suburb to Extremely Rural. </a:t>
            </a:r>
          </a:p>
          <a:p>
            <a:pPr marL="342900" indent="-342900">
              <a:buFont typeface="+mj-lt"/>
              <a:buAutoNum type="arabicPeriod"/>
            </a:pPr>
            <a:endParaRPr lang="en-US" sz="1400" b="1" dirty="0"/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CMS Medicare Geographic Variation</a:t>
            </a:r>
            <a:r>
              <a:rPr lang="en-US" sz="1400" dirty="0"/>
              <a:t>: Has Medicare and Medicaid Spending per Beneficiary, Medicare Advantage enrollment rates, Emergency Room Visits etc.</a:t>
            </a:r>
            <a:endParaRPr lang="en-US" sz="1400" b="1" dirty="0"/>
          </a:p>
          <a:p>
            <a:pPr marL="342900" indent="-342900">
              <a:buFont typeface="+mj-lt"/>
              <a:buAutoNum type="arabicPeriod"/>
            </a:pPr>
            <a:endParaRPr lang="en-US" sz="1400" dirty="0"/>
          </a:p>
          <a:p>
            <a:pPr marL="342900" indent="-342900">
              <a:buFont typeface="+mj-lt"/>
              <a:buAutoNum type="arabicPeriod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21841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66CF7-69F4-F432-4747-28EF15528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2" y="629920"/>
            <a:ext cx="4592318" cy="810462"/>
          </a:xfrm>
        </p:spPr>
        <p:txBody>
          <a:bodyPr/>
          <a:lstStyle/>
          <a:p>
            <a:r>
              <a:rPr lang="en-US" dirty="0"/>
              <a:t>Attributes Dropped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082E89-DB15-6D26-7098-DA9792B0B0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274" y="3507199"/>
            <a:ext cx="3606800" cy="2271076"/>
          </a:xfrm>
        </p:spPr>
        <p:txBody>
          <a:bodyPr/>
          <a:lstStyle/>
          <a:p>
            <a:r>
              <a:rPr lang="en-US" b="1" dirty="0"/>
              <a:t>Not related to over</a:t>
            </a:r>
            <a:r>
              <a:rPr lang="en-US" sz="1600" b="1" dirty="0"/>
              <a:t> age 50</a:t>
            </a:r>
            <a:r>
              <a:rPr lang="en-US" sz="1600" dirty="0"/>
              <a:t>:</a:t>
            </a:r>
          </a:p>
          <a:p>
            <a:r>
              <a:rPr lang="en-US" sz="1600" dirty="0"/>
              <a:t>Low Birthweight, Teen </a:t>
            </a:r>
            <a:r>
              <a:rPr lang="en-US" dirty="0"/>
              <a:t>Births, Child Care Cost Burden, Child Care Centers, School Funding Adequacy, Reading Scores, Math Scores, School Segregation, Children Eligible for Free or Reduced Price Lunch</a:t>
            </a:r>
          </a:p>
        </p:txBody>
      </p:sp>
      <p:pic>
        <p:nvPicPr>
          <p:cNvPr id="21" name="Picture Placeholder 20" descr="A person in a white coat with a stethoscope around her neck">
            <a:extLst>
              <a:ext uri="{FF2B5EF4-FFF2-40B4-BE49-F238E27FC236}">
                <a16:creationId xmlns:a16="http://schemas.microsoft.com/office/drawing/2014/main" id="{244AC564-6A07-A90A-B027-67CD2423BBD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54" b="354"/>
          <a:stretch/>
        </p:blipFill>
        <p:spPr>
          <a:xfrm>
            <a:off x="5476672" y="650240"/>
            <a:ext cx="6278446" cy="571391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2B8FB2-A8F2-97F8-EEAD-7CEC016DA1D3}"/>
              </a:ext>
            </a:extLst>
          </p:cNvPr>
          <p:cNvSpPr txBox="1"/>
          <p:nvPr/>
        </p:nvSpPr>
        <p:spPr>
          <a:xfrm>
            <a:off x="647274" y="1610315"/>
            <a:ext cx="31074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Insufficient Data :</a:t>
            </a:r>
          </a:p>
          <a:p>
            <a:endParaRPr lang="en-US" dirty="0"/>
          </a:p>
          <a:p>
            <a:r>
              <a:rPr lang="en-US" dirty="0"/>
              <a:t>Disconnect Youth 37%</a:t>
            </a:r>
          </a:p>
          <a:p>
            <a:r>
              <a:rPr lang="en-US" dirty="0"/>
              <a:t>High School Graduation 75%</a:t>
            </a:r>
          </a:p>
          <a:p>
            <a:r>
              <a:rPr lang="en-US" dirty="0"/>
              <a:t>Juvenile Arrests 63%</a:t>
            </a:r>
          </a:p>
          <a:p>
            <a:r>
              <a:rPr lang="en-US" dirty="0"/>
              <a:t>Residential Segregation 67%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306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8CC8329-5BE5-94B7-B5B2-CBC9BE1BE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151154"/>
              </p:ext>
            </p:extLst>
          </p:nvPr>
        </p:nvGraphicFramePr>
        <p:xfrm>
          <a:off x="748874" y="1095130"/>
          <a:ext cx="10694251" cy="2514600"/>
        </p:xfrm>
        <a:graphic>
          <a:graphicData uri="http://schemas.openxmlformats.org/drawingml/2006/table">
            <a:tbl>
              <a:tblPr>
                <a:tableStyleId>{912C8C85-51F0-491E-9774-3900AFEF0FD7}</a:tableStyleId>
              </a:tblPr>
              <a:tblGrid>
                <a:gridCol w="1482285">
                  <a:extLst>
                    <a:ext uri="{9D8B030D-6E8A-4147-A177-3AD203B41FA5}">
                      <a16:colId xmlns:a16="http://schemas.microsoft.com/office/drawing/2014/main" val="222205744"/>
                    </a:ext>
                  </a:extLst>
                </a:gridCol>
                <a:gridCol w="1547021">
                  <a:extLst>
                    <a:ext uri="{9D8B030D-6E8A-4147-A177-3AD203B41FA5}">
                      <a16:colId xmlns:a16="http://schemas.microsoft.com/office/drawing/2014/main" val="2884448992"/>
                    </a:ext>
                  </a:extLst>
                </a:gridCol>
                <a:gridCol w="1254051">
                  <a:extLst>
                    <a:ext uri="{9D8B030D-6E8A-4147-A177-3AD203B41FA5}">
                      <a16:colId xmlns:a16="http://schemas.microsoft.com/office/drawing/2014/main" val="325255113"/>
                    </a:ext>
                  </a:extLst>
                </a:gridCol>
                <a:gridCol w="1839990">
                  <a:extLst>
                    <a:ext uri="{9D8B030D-6E8A-4147-A177-3AD203B41FA5}">
                      <a16:colId xmlns:a16="http://schemas.microsoft.com/office/drawing/2014/main" val="1798820538"/>
                    </a:ext>
                  </a:extLst>
                </a:gridCol>
                <a:gridCol w="1547021">
                  <a:extLst>
                    <a:ext uri="{9D8B030D-6E8A-4147-A177-3AD203B41FA5}">
                      <a16:colId xmlns:a16="http://schemas.microsoft.com/office/drawing/2014/main" val="1552982554"/>
                    </a:ext>
                  </a:extLst>
                </a:gridCol>
                <a:gridCol w="1547021">
                  <a:extLst>
                    <a:ext uri="{9D8B030D-6E8A-4147-A177-3AD203B41FA5}">
                      <a16:colId xmlns:a16="http://schemas.microsoft.com/office/drawing/2014/main" val="274195889"/>
                    </a:ext>
                  </a:extLst>
                </a:gridCol>
                <a:gridCol w="1476862">
                  <a:extLst>
                    <a:ext uri="{9D8B030D-6E8A-4147-A177-3AD203B41FA5}">
                      <a16:colId xmlns:a16="http://schemas.microsoft.com/office/drawing/2014/main" val="8728226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County Name</a:t>
                      </a: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State</a:t>
                      </a: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Life Expectancy Years</a:t>
                      </a: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Life Expectancy Males</a:t>
                      </a: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Life Expectancy </a:t>
                      </a:r>
                      <a:r>
                        <a:rPr lang="en-US" sz="900" dirty="0" err="1">
                          <a:effectLst/>
                        </a:rPr>
                        <a:t>Femails</a:t>
                      </a: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Total Population</a:t>
                      </a: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871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Summit County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CO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44.5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43.4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45.6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30649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7318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Pitkin County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CO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43.8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42.1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45.4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17926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865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Eagle County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CO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41.0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39.6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42.3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54681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7958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San Miguel County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CO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39.2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37.8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40.7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8049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1957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Collier County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FL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38.3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36.2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40.3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371453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4649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Aleutians West CA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AK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38.3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39.0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37.0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9083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4810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Mono County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CA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38.2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36.9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39.8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14310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5257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Presidio County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TX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37.9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36.1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40.0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6975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5382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Teton County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WY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37.9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37.1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38.7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23280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5555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Haines Borough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AK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37.5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34.6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40.4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2518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091073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1629CA7-8082-E492-8DDD-91BDCC520145}"/>
              </a:ext>
            </a:extLst>
          </p:cNvPr>
          <p:cNvSpPr txBox="1"/>
          <p:nvPr/>
        </p:nvSpPr>
        <p:spPr>
          <a:xfrm>
            <a:off x="3147802" y="776835"/>
            <a:ext cx="5340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Highest Life Expectancy Counties at 50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C1574E-C5E4-1F5E-FBBA-82F31C28BF46}"/>
              </a:ext>
            </a:extLst>
          </p:cNvPr>
          <p:cNvSpPr txBox="1"/>
          <p:nvPr/>
        </p:nvSpPr>
        <p:spPr>
          <a:xfrm>
            <a:off x="3281349" y="3590131"/>
            <a:ext cx="5340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Lowest Life Expectancy Counties at 50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D861EA5-3C02-F16A-5DE5-19A2F9A5D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418906"/>
              </p:ext>
            </p:extLst>
          </p:nvPr>
        </p:nvGraphicFramePr>
        <p:xfrm>
          <a:off x="768743" y="4032955"/>
          <a:ext cx="10862096" cy="2514600"/>
        </p:xfrm>
        <a:graphic>
          <a:graphicData uri="http://schemas.openxmlformats.org/drawingml/2006/table">
            <a:tbl>
              <a:tblPr>
                <a:tableStyleId>{912C8C85-51F0-491E-9774-3900AFEF0FD7}</a:tableStyleId>
              </a:tblPr>
              <a:tblGrid>
                <a:gridCol w="1551728">
                  <a:extLst>
                    <a:ext uri="{9D8B030D-6E8A-4147-A177-3AD203B41FA5}">
                      <a16:colId xmlns:a16="http://schemas.microsoft.com/office/drawing/2014/main" val="995544900"/>
                    </a:ext>
                  </a:extLst>
                </a:gridCol>
                <a:gridCol w="1551728">
                  <a:extLst>
                    <a:ext uri="{9D8B030D-6E8A-4147-A177-3AD203B41FA5}">
                      <a16:colId xmlns:a16="http://schemas.microsoft.com/office/drawing/2014/main" val="4132175979"/>
                    </a:ext>
                  </a:extLst>
                </a:gridCol>
                <a:gridCol w="1551728">
                  <a:extLst>
                    <a:ext uri="{9D8B030D-6E8A-4147-A177-3AD203B41FA5}">
                      <a16:colId xmlns:a16="http://schemas.microsoft.com/office/drawing/2014/main" val="4148334125"/>
                    </a:ext>
                  </a:extLst>
                </a:gridCol>
                <a:gridCol w="1551728">
                  <a:extLst>
                    <a:ext uri="{9D8B030D-6E8A-4147-A177-3AD203B41FA5}">
                      <a16:colId xmlns:a16="http://schemas.microsoft.com/office/drawing/2014/main" val="3787044071"/>
                    </a:ext>
                  </a:extLst>
                </a:gridCol>
                <a:gridCol w="1551728">
                  <a:extLst>
                    <a:ext uri="{9D8B030D-6E8A-4147-A177-3AD203B41FA5}">
                      <a16:colId xmlns:a16="http://schemas.microsoft.com/office/drawing/2014/main" val="1209067471"/>
                    </a:ext>
                  </a:extLst>
                </a:gridCol>
                <a:gridCol w="1551728">
                  <a:extLst>
                    <a:ext uri="{9D8B030D-6E8A-4147-A177-3AD203B41FA5}">
                      <a16:colId xmlns:a16="http://schemas.microsoft.com/office/drawing/2014/main" val="4145849350"/>
                    </a:ext>
                  </a:extLst>
                </a:gridCol>
                <a:gridCol w="1551728">
                  <a:extLst>
                    <a:ext uri="{9D8B030D-6E8A-4147-A177-3AD203B41FA5}">
                      <a16:colId xmlns:a16="http://schemas.microsoft.com/office/drawing/2014/main" val="529354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i="0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>
                    <a:solidFill>
                      <a:srgbClr val="969F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County Name</a:t>
                      </a: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969F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State</a:t>
                      </a: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969F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Life Expectancy Years</a:t>
                      </a: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969F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Life Expectancy Males</a:t>
                      </a: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969F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Life Expectancy </a:t>
                      </a:r>
                      <a:r>
                        <a:rPr lang="en-US" sz="900" dirty="0" err="1">
                          <a:effectLst/>
                        </a:rPr>
                        <a:t>Femails</a:t>
                      </a: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969F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Total Population</a:t>
                      </a:r>
                      <a:endParaRPr lang="en-US" sz="9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96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328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i="0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Martinsville city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VA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22.9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20.8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24.8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12852.0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5200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i="0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Union County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FL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22.9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20.3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29.7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15303.0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9201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i="0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Galax city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VA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24.1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21.5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26.6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6517.0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1173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i="0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Perry County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KY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24.3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22.8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25.9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26624.0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328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i="0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Shannon County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SD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24.4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21.5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27.3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14335.0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24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i="0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Petersburg city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VA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25.1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22.0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27.9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31362.0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9990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i="0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Harlan County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KY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25.3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23.0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27.6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26699.0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7955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i="0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Leslie County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KY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25.3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23.6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27.0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10283.0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9563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i="0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Powell County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KY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25.5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23.6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27.6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12304.0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7296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endParaRPr lang="en-US" sz="900" b="1" i="0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Clay County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KY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25.6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23.8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>
                          <a:effectLst/>
                        </a:rPr>
                        <a:t>27.4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20368.0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1117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5820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7EEE756-24CE-45BF-ED3B-BCDD84D78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960529"/>
              </p:ext>
            </p:extLst>
          </p:nvPr>
        </p:nvGraphicFramePr>
        <p:xfrm>
          <a:off x="485522" y="1132438"/>
          <a:ext cx="5610478" cy="292608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2792359">
                  <a:extLst>
                    <a:ext uri="{9D8B030D-6E8A-4147-A177-3AD203B41FA5}">
                      <a16:colId xmlns:a16="http://schemas.microsoft.com/office/drawing/2014/main" val="3135967296"/>
                    </a:ext>
                  </a:extLst>
                </a:gridCol>
                <a:gridCol w="2818119">
                  <a:extLst>
                    <a:ext uri="{9D8B030D-6E8A-4147-A177-3AD203B41FA5}">
                      <a16:colId xmlns:a16="http://schemas.microsoft.com/office/drawing/2014/main" val="26822779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3305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chr_adult_smoking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% of adults who smoke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3326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chr_adult_obesity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% of adults with BMI ≥ 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6418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chr_physical_inactivity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% of adults reporting no leisure-time physical activity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330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chr_excessive_drinking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% of adults reporting binge or heavy drinking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5053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chr_insufficient_sleep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% of adults sleeping under 7 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9046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chr_food_environment_index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Index (0–10) of food access and food insecurity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6223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chr_access_to_exercise_opportunities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% with access to places for physical activity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975947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E9B6B24-E071-B681-EB9F-E2018A5EA43F}"/>
              </a:ext>
            </a:extLst>
          </p:cNvPr>
          <p:cNvSpPr txBox="1"/>
          <p:nvPr/>
        </p:nvSpPr>
        <p:spPr>
          <a:xfrm>
            <a:off x="793019" y="623087"/>
            <a:ext cx="1660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Health Features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93711D8-6B31-6E5E-F96F-CF2003DB2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8742"/>
              </p:ext>
            </p:extLst>
          </p:nvPr>
        </p:nvGraphicFramePr>
        <p:xfrm>
          <a:off x="6505996" y="1132438"/>
          <a:ext cx="4643443" cy="4272907"/>
        </p:xfrm>
        <a:graphic>
          <a:graphicData uri="http://schemas.openxmlformats.org/drawingml/2006/table">
            <a:tbl>
              <a:tblPr>
                <a:tableStyleId>{912C8C85-51F0-491E-9774-3900AFEF0FD7}</a:tableStyleId>
              </a:tblPr>
              <a:tblGrid>
                <a:gridCol w="1996794">
                  <a:extLst>
                    <a:ext uri="{9D8B030D-6E8A-4147-A177-3AD203B41FA5}">
                      <a16:colId xmlns:a16="http://schemas.microsoft.com/office/drawing/2014/main" val="2370584370"/>
                    </a:ext>
                  </a:extLst>
                </a:gridCol>
                <a:gridCol w="2646649">
                  <a:extLst>
                    <a:ext uri="{9D8B030D-6E8A-4147-A177-3AD203B41FA5}">
                      <a16:colId xmlns:a16="http://schemas.microsoft.com/office/drawing/2014/main" val="3634331433"/>
                    </a:ext>
                  </a:extLst>
                </a:gridCol>
              </a:tblGrid>
              <a:tr h="280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Feature</a:t>
                      </a:r>
                    </a:p>
                  </a:txBody>
                  <a:tcPr marL="70247" marR="70247" marT="35123" marB="35123" anchor="ctr">
                    <a:solidFill>
                      <a:srgbClr val="4653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marL="70247" marR="70247" marT="35123" marB="35123" anchor="ctr">
                    <a:solidFill>
                      <a:srgbClr val="4653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716274"/>
                  </a:ext>
                </a:extLst>
              </a:tr>
              <a:tr h="280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chr_uninsured_adults</a:t>
                      </a:r>
                      <a:endParaRPr lang="en-US" sz="1200" dirty="0"/>
                    </a:p>
                  </a:txBody>
                  <a:tcPr marL="70247" marR="70247" marT="35123" marB="35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% of adults under 65 without insurance</a:t>
                      </a:r>
                    </a:p>
                  </a:txBody>
                  <a:tcPr marL="70247" marR="70247" marT="35123" marB="35123" anchor="ctr"/>
                </a:tc>
                <a:extLst>
                  <a:ext uri="{0D108BD9-81ED-4DB2-BD59-A6C34878D82A}">
                    <a16:rowId xmlns:a16="http://schemas.microsoft.com/office/drawing/2014/main" val="3664406618"/>
                  </a:ext>
                </a:extLst>
              </a:tr>
              <a:tr h="280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chr_primary_care_physicians</a:t>
                      </a:r>
                      <a:endParaRPr lang="en-US" sz="1200" dirty="0"/>
                    </a:p>
                  </a:txBody>
                  <a:tcPr marL="70247" marR="70247" marT="35123" marB="35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Primary care physicians per population</a:t>
                      </a:r>
                    </a:p>
                  </a:txBody>
                  <a:tcPr marL="70247" marR="70247" marT="35123" marB="35123" anchor="ctr"/>
                </a:tc>
                <a:extLst>
                  <a:ext uri="{0D108BD9-81ED-4DB2-BD59-A6C34878D82A}">
                    <a16:rowId xmlns:a16="http://schemas.microsoft.com/office/drawing/2014/main" val="2865518827"/>
                  </a:ext>
                </a:extLst>
              </a:tr>
              <a:tr h="280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chr_mental_health_providers</a:t>
                      </a:r>
                    </a:p>
                  </a:txBody>
                  <a:tcPr marL="70247" marR="70247" marT="35123" marB="35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Mental health providers per population</a:t>
                      </a:r>
                    </a:p>
                  </a:txBody>
                  <a:tcPr marL="70247" marR="70247" marT="35123" marB="35123" anchor="ctr"/>
                </a:tc>
                <a:extLst>
                  <a:ext uri="{0D108BD9-81ED-4DB2-BD59-A6C34878D82A}">
                    <a16:rowId xmlns:a16="http://schemas.microsoft.com/office/drawing/2014/main" val="1190434714"/>
                  </a:ext>
                </a:extLst>
              </a:tr>
              <a:tr h="280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chr_dentists</a:t>
                      </a:r>
                    </a:p>
                  </a:txBody>
                  <a:tcPr marL="70247" marR="70247" marT="35123" marB="35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Dentists per population</a:t>
                      </a:r>
                    </a:p>
                  </a:txBody>
                  <a:tcPr marL="70247" marR="70247" marT="35123" marB="35123" anchor="ctr"/>
                </a:tc>
                <a:extLst>
                  <a:ext uri="{0D108BD9-81ED-4DB2-BD59-A6C34878D82A}">
                    <a16:rowId xmlns:a16="http://schemas.microsoft.com/office/drawing/2014/main" val="2971341924"/>
                  </a:ext>
                </a:extLst>
              </a:tr>
              <a:tr h="280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chr_preventable_hospital_stays</a:t>
                      </a:r>
                    </a:p>
                  </a:txBody>
                  <a:tcPr marL="70247" marR="70247" marT="35123" marB="35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Hospital stays for conditions treatable in outpatient care</a:t>
                      </a:r>
                    </a:p>
                  </a:txBody>
                  <a:tcPr marL="70247" marR="70247" marT="35123" marB="35123" anchor="ctr"/>
                </a:tc>
                <a:extLst>
                  <a:ext uri="{0D108BD9-81ED-4DB2-BD59-A6C34878D82A}">
                    <a16:rowId xmlns:a16="http://schemas.microsoft.com/office/drawing/2014/main" val="373257071"/>
                  </a:ext>
                </a:extLst>
              </a:tr>
              <a:tr h="280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chr_mammography_screening</a:t>
                      </a:r>
                    </a:p>
                  </a:txBody>
                  <a:tcPr marL="70247" marR="70247" marT="35123" marB="35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% of female Medicare enrollees screened</a:t>
                      </a:r>
                    </a:p>
                  </a:txBody>
                  <a:tcPr marL="70247" marR="70247" marT="35123" marB="35123" anchor="ctr"/>
                </a:tc>
                <a:extLst>
                  <a:ext uri="{0D108BD9-81ED-4DB2-BD59-A6C34878D82A}">
                    <a16:rowId xmlns:a16="http://schemas.microsoft.com/office/drawing/2014/main" val="1489681485"/>
                  </a:ext>
                </a:extLst>
              </a:tr>
              <a:tr h="280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chr_flu_vaccinations</a:t>
                      </a:r>
                    </a:p>
                  </a:txBody>
                  <a:tcPr marL="70247" marR="70247" marT="35123" marB="35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% of Medicare enrollees vaccinated</a:t>
                      </a:r>
                    </a:p>
                  </a:txBody>
                  <a:tcPr marL="70247" marR="70247" marT="35123" marB="35123" anchor="ctr"/>
                </a:tc>
                <a:extLst>
                  <a:ext uri="{0D108BD9-81ED-4DB2-BD59-A6C34878D82A}">
                    <a16:rowId xmlns:a16="http://schemas.microsoft.com/office/drawing/2014/main" val="2889444195"/>
                  </a:ext>
                </a:extLst>
              </a:tr>
              <a:tr h="280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cms_std_spending_per_capita</a:t>
                      </a:r>
                    </a:p>
                  </a:txBody>
                  <a:tcPr marL="70247" marR="70247" marT="35123" marB="35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Standardized Medicare spending per beneficiary</a:t>
                      </a:r>
                    </a:p>
                  </a:txBody>
                  <a:tcPr marL="70247" marR="70247" marT="35123" marB="35123" anchor="ctr"/>
                </a:tc>
                <a:extLst>
                  <a:ext uri="{0D108BD9-81ED-4DB2-BD59-A6C34878D82A}">
                    <a16:rowId xmlns:a16="http://schemas.microsoft.com/office/drawing/2014/main" val="3869153597"/>
                  </a:ext>
                </a:extLst>
              </a:tr>
              <a:tr h="280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cms_pct_dual_eligible</a:t>
                      </a:r>
                    </a:p>
                  </a:txBody>
                  <a:tcPr marL="70247" marR="70247" marT="35123" marB="35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% of beneficiaries also eligible for Medicaid</a:t>
                      </a:r>
                    </a:p>
                  </a:txBody>
                  <a:tcPr marL="70247" marR="70247" marT="35123" marB="35123" anchor="ctr"/>
                </a:tc>
                <a:extLst>
                  <a:ext uri="{0D108BD9-81ED-4DB2-BD59-A6C34878D82A}">
                    <a16:rowId xmlns:a16="http://schemas.microsoft.com/office/drawing/2014/main" val="2898241328"/>
                  </a:ext>
                </a:extLst>
              </a:tr>
              <a:tr h="280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cms_ma_participation_rate</a:t>
                      </a:r>
                    </a:p>
                  </a:txBody>
                  <a:tcPr marL="70247" marR="70247" marT="35123" marB="35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Medicare Advantage participation rate</a:t>
                      </a:r>
                    </a:p>
                  </a:txBody>
                  <a:tcPr marL="70247" marR="70247" marT="35123" marB="35123" anchor="ctr"/>
                </a:tc>
                <a:extLst>
                  <a:ext uri="{0D108BD9-81ED-4DB2-BD59-A6C34878D82A}">
                    <a16:rowId xmlns:a16="http://schemas.microsoft.com/office/drawing/2014/main" val="3525720682"/>
                  </a:ext>
                </a:extLst>
              </a:tr>
              <a:tr h="280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cms_er_visits_per_1000</a:t>
                      </a:r>
                    </a:p>
                  </a:txBody>
                  <a:tcPr marL="70247" marR="70247" marT="35123" marB="35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ER visits per 1,000 beneficiaries</a:t>
                      </a:r>
                    </a:p>
                  </a:txBody>
                  <a:tcPr marL="70247" marR="70247" marT="35123" marB="35123" anchor="ctr"/>
                </a:tc>
                <a:extLst>
                  <a:ext uri="{0D108BD9-81ED-4DB2-BD59-A6C34878D82A}">
                    <a16:rowId xmlns:a16="http://schemas.microsoft.com/office/drawing/2014/main" val="2812146684"/>
                  </a:ext>
                </a:extLst>
              </a:tr>
              <a:tr h="280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cms_readmission_pct</a:t>
                      </a:r>
                    </a:p>
                  </a:txBody>
                  <a:tcPr marL="70247" marR="70247" marT="35123" marB="35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30-day hospital readmission rate</a:t>
                      </a:r>
                    </a:p>
                  </a:txBody>
                  <a:tcPr marL="70247" marR="70247" marT="35123" marB="35123" anchor="ctr"/>
                </a:tc>
                <a:extLst>
                  <a:ext uri="{0D108BD9-81ED-4DB2-BD59-A6C34878D82A}">
                    <a16:rowId xmlns:a16="http://schemas.microsoft.com/office/drawing/2014/main" val="146544122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C38CB76-02E0-8642-5BA1-D22CF41DB461}"/>
              </a:ext>
            </a:extLst>
          </p:cNvPr>
          <p:cNvSpPr txBox="1"/>
          <p:nvPr/>
        </p:nvSpPr>
        <p:spPr>
          <a:xfrm>
            <a:off x="6570733" y="623087"/>
            <a:ext cx="2344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Health Access Features</a:t>
            </a:r>
          </a:p>
        </p:txBody>
      </p:sp>
    </p:spTree>
    <p:extLst>
      <p:ext uri="{BB962C8B-B14F-4D97-AF65-F5344CB8AC3E}">
        <p14:creationId xmlns:p14="http://schemas.microsoft.com/office/powerpoint/2010/main" val="2571273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8060260-6C6C-8050-E22C-CE3D1729C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110025"/>
              </p:ext>
            </p:extLst>
          </p:nvPr>
        </p:nvGraphicFramePr>
        <p:xfrm>
          <a:off x="445062" y="1105764"/>
          <a:ext cx="5510676" cy="3860391"/>
        </p:xfrm>
        <a:graphic>
          <a:graphicData uri="http://schemas.openxmlformats.org/drawingml/2006/table">
            <a:tbl>
              <a:tblPr>
                <a:tableStyleId>{912C8C85-51F0-491E-9774-3900AFEF0FD7}</a:tableStyleId>
              </a:tblPr>
              <a:tblGrid>
                <a:gridCol w="2721592">
                  <a:extLst>
                    <a:ext uri="{9D8B030D-6E8A-4147-A177-3AD203B41FA5}">
                      <a16:colId xmlns:a16="http://schemas.microsoft.com/office/drawing/2014/main" val="1101042904"/>
                    </a:ext>
                  </a:extLst>
                </a:gridCol>
                <a:gridCol w="2789084">
                  <a:extLst>
                    <a:ext uri="{9D8B030D-6E8A-4147-A177-3AD203B41FA5}">
                      <a16:colId xmlns:a16="http://schemas.microsoft.com/office/drawing/2014/main" val="3379444241"/>
                    </a:ext>
                  </a:extLst>
                </a:gridCol>
              </a:tblGrid>
              <a:tr h="3399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Feature</a:t>
                      </a:r>
                    </a:p>
                  </a:txBody>
                  <a:tcPr anchor="ctr">
                    <a:solidFill>
                      <a:srgbClr val="969FA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Description</a:t>
                      </a:r>
                    </a:p>
                  </a:txBody>
                  <a:tcPr anchor="ctr">
                    <a:solidFill>
                      <a:srgbClr val="96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695489"/>
                  </a:ext>
                </a:extLst>
              </a:tr>
              <a:tr h="577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chr_air_pollution_particulate_matter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Average daily PM2.5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4598031"/>
                  </a:ext>
                </a:extLst>
              </a:tr>
              <a:tr h="616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chr_severe_housing_problems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% of households with overcrowding, high costs, or poor facilities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5049186"/>
                  </a:ext>
                </a:extLst>
              </a:tr>
              <a:tr h="616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chr_long_commute_driving_alone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% of solo commuters driving more than 30 minutes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6639057"/>
                  </a:ext>
                </a:extLst>
              </a:tr>
              <a:tr h="613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chr_drinking_water_violations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Whether a water violation was reported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239721"/>
                  </a:ext>
                </a:extLst>
              </a:tr>
              <a:tr h="577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chr_pct_rural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% of the population living in rural areas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5211441"/>
                  </a:ext>
                </a:extLst>
              </a:tr>
              <a:tr h="415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rucc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Rural-Urban Continuum Code (1 = large metro, 9 = remote rural)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648131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C39C5EB-155D-97B0-474E-0A2BB63F70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71840"/>
              </p:ext>
            </p:extLst>
          </p:nvPr>
        </p:nvGraphicFramePr>
        <p:xfrm>
          <a:off x="6416985" y="1105764"/>
          <a:ext cx="5033246" cy="2754140"/>
        </p:xfrm>
        <a:graphic>
          <a:graphicData uri="http://schemas.openxmlformats.org/drawingml/2006/table">
            <a:tbl>
              <a:tblPr>
                <a:tableStyleId>{912C8C85-51F0-491E-9774-3900AFEF0FD7}</a:tableStyleId>
              </a:tblPr>
              <a:tblGrid>
                <a:gridCol w="2491035">
                  <a:extLst>
                    <a:ext uri="{9D8B030D-6E8A-4147-A177-3AD203B41FA5}">
                      <a16:colId xmlns:a16="http://schemas.microsoft.com/office/drawing/2014/main" val="2724014596"/>
                    </a:ext>
                  </a:extLst>
                </a:gridCol>
                <a:gridCol w="2542211">
                  <a:extLst>
                    <a:ext uri="{9D8B030D-6E8A-4147-A177-3AD203B41FA5}">
                      <a16:colId xmlns:a16="http://schemas.microsoft.com/office/drawing/2014/main" val="934923140"/>
                    </a:ext>
                  </a:extLst>
                </a:gridCol>
              </a:tblGrid>
              <a:tr h="284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Feature</a:t>
                      </a:r>
                    </a:p>
                  </a:txBody>
                  <a:tcPr anchor="ctr">
                    <a:solidFill>
                      <a:srgbClr val="969FA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Description</a:t>
                      </a:r>
                    </a:p>
                  </a:txBody>
                  <a:tcPr anchor="ctr">
                    <a:solidFill>
                      <a:srgbClr val="96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050124"/>
                  </a:ext>
                </a:extLst>
              </a:tr>
              <a:tr h="284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chr_pct_65_and_older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% of the population age 65+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1891188"/>
                  </a:ext>
                </a:extLst>
              </a:tr>
              <a:tr h="284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chr_pct_female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% of the population that is female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9844704"/>
                  </a:ext>
                </a:extLst>
              </a:tr>
              <a:tr h="284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acs_pct_nh_black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% non-Hispanic Black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536118"/>
                  </a:ext>
                </a:extLst>
              </a:tr>
              <a:tr h="284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acs_pct_hispanic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% Hispanic or Latino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205728"/>
                  </a:ext>
                </a:extLst>
              </a:tr>
              <a:tr h="474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acs_pct_nh_aian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% non-Hispanic American Indian/Alaska Native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5559285"/>
                  </a:ext>
                </a:extLst>
              </a:tr>
              <a:tr h="284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acs_pct_nh_asian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% non-Hispanic Asian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1753378"/>
                  </a:ext>
                </a:extLst>
              </a:tr>
              <a:tr h="284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acs_pct_foreign_born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% foreign born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076556"/>
                  </a:ext>
                </a:extLst>
              </a:tr>
              <a:tr h="284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acs_log_pop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Log of total population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8892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3565329-C9D5-8F51-A279-ABAAE9F6D9B8}"/>
              </a:ext>
            </a:extLst>
          </p:cNvPr>
          <p:cNvSpPr txBox="1"/>
          <p:nvPr/>
        </p:nvSpPr>
        <p:spPr>
          <a:xfrm>
            <a:off x="647363" y="694908"/>
            <a:ext cx="4369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Environment Features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FBAA34-A58F-2F60-1111-E25BB1C6A4CF}"/>
              </a:ext>
            </a:extLst>
          </p:cNvPr>
          <p:cNvSpPr txBox="1"/>
          <p:nvPr/>
        </p:nvSpPr>
        <p:spPr>
          <a:xfrm>
            <a:off x="6546457" y="653441"/>
            <a:ext cx="3778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Demographic Features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6D7F1D-0507-F723-DF29-2EC422619C8D}"/>
              </a:ext>
            </a:extLst>
          </p:cNvPr>
          <p:cNvSpPr txBox="1"/>
          <p:nvPr/>
        </p:nvSpPr>
        <p:spPr>
          <a:xfrm>
            <a:off x="6732574" y="4357730"/>
            <a:ext cx="322678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Additional Possible Features:  </a:t>
            </a:r>
          </a:p>
          <a:p>
            <a:r>
              <a:rPr lang="en-US" dirty="0" err="1"/>
              <a:t>chr_poor_or_fair_health</a:t>
            </a:r>
            <a:r>
              <a:rPr lang="en-US" dirty="0"/>
              <a:t>, </a:t>
            </a:r>
          </a:p>
          <a:p>
            <a:r>
              <a:rPr lang="en-US" dirty="0" err="1"/>
              <a:t>chr_poor_physical_health_days</a:t>
            </a:r>
            <a:r>
              <a:rPr lang="en-US" dirty="0"/>
              <a:t>, </a:t>
            </a:r>
          </a:p>
          <a:p>
            <a:r>
              <a:rPr lang="en-US" dirty="0" err="1"/>
              <a:t>chr_poor_mental_health_days</a:t>
            </a:r>
            <a:r>
              <a:rPr lang="en-US" dirty="0"/>
              <a:t>, </a:t>
            </a:r>
          </a:p>
          <a:p>
            <a:r>
              <a:rPr lang="en-US" dirty="0" err="1"/>
              <a:t>chr_frequent_physical_distress</a:t>
            </a:r>
            <a:r>
              <a:rPr lang="en-US" dirty="0"/>
              <a:t>, </a:t>
            </a:r>
          </a:p>
          <a:p>
            <a:r>
              <a:rPr lang="en-US" dirty="0" err="1"/>
              <a:t>chr_frequent_mental_distress</a:t>
            </a:r>
            <a:r>
              <a:rPr lang="en-US" dirty="0"/>
              <a:t>, </a:t>
            </a:r>
          </a:p>
          <a:p>
            <a:r>
              <a:rPr lang="en-US" dirty="0" err="1"/>
              <a:t>chr_diabetes_prevalence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760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B07F3B4-2129-BE29-0166-56DD8FD20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945" y="1259523"/>
            <a:ext cx="9669293" cy="534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1DA5EA1-3C38-35D0-0DBA-97043A897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885" y="1175657"/>
            <a:ext cx="9345329" cy="4784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83D25A7-65DC-2846-4752-97FEDC0CC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324" y="857250"/>
            <a:ext cx="863410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905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276933-85E7-7E12-7E31-D32532F0B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53" y="1204617"/>
            <a:ext cx="11151368" cy="4310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275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D715DBBC-70C2-E94B-9B03-12910F0B54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Next </a:t>
            </a:r>
            <a:r>
              <a:rPr lang="en-US" dirty="0" err="1"/>
              <a:t>PhaseS</a:t>
            </a:r>
            <a:endParaRPr lang="en-US" dirty="0"/>
          </a:p>
        </p:txBody>
      </p:sp>
      <p:pic>
        <p:nvPicPr>
          <p:cNvPr id="21" name="Picture Placeholder 20" descr="Two people smiling while holding coffee">
            <a:extLst>
              <a:ext uri="{FF2B5EF4-FFF2-40B4-BE49-F238E27FC236}">
                <a16:creationId xmlns:a16="http://schemas.microsoft.com/office/drawing/2014/main" id="{75E7485A-FBCC-4222-2274-2B2A0804BC9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38" r="38"/>
          <a:stretch/>
        </p:blipFill>
        <p:spPr/>
      </p:pic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D3AEB1C4-FB60-9B8E-5A02-0BCD2B6E5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Pick final list of metrics based on correlation results.  </a:t>
            </a:r>
          </a:p>
          <a:p>
            <a:r>
              <a:rPr lang="en-US" dirty="0"/>
              <a:t>Potentially add new data sources: IRS migration data. BLS QCEW – Show occupation level data, Opportunity Insights Social Capital Atlas – how much low and high income residents interact.</a:t>
            </a:r>
          </a:p>
          <a:p>
            <a:r>
              <a:rPr lang="en-US" dirty="0"/>
              <a:t>Run multiple models.  </a:t>
            </a:r>
          </a:p>
          <a:p>
            <a:r>
              <a:rPr lang="en-US" dirty="0"/>
              <a:t>Create Website with map with counties selectable.  Provide details of each county when selected.  Things that are red warnings that could be causing higher than norm of life expectancy.</a:t>
            </a:r>
          </a:p>
          <a:p>
            <a:r>
              <a:rPr lang="en-US" dirty="0"/>
              <a:t>Comparison to total life expectancy metrics.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44247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037C456-A6DA-4DEE-A3FB-4EC3058FD0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D1F84C-D1FD-4B1B-9CFD-8E0D96AC4D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00B2AC-C335-4100-B8B3-2D9F49A729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{8A554192-FCEB-489F-8E52-FEC3E5D13A38}TF44327b14-72fa-4a42-8e82-8afcf10927fa9096c001_win32-283260f3ca19</Template>
  <TotalTime>191</TotalTime>
  <Words>1105</Words>
  <Application>Microsoft Office PowerPoint</Application>
  <PresentationFormat>Widescreen</PresentationFormat>
  <Paragraphs>261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Gill Sans MT</vt:lpstr>
      <vt:lpstr>Helvetica Neue</vt:lpstr>
      <vt:lpstr>Wingdings 2</vt:lpstr>
      <vt:lpstr>DividendVTI</vt:lpstr>
      <vt:lpstr>  US Life Expectancy Across US Counties After AGE 50  Michael Tyler DATA 606 – Data Science Capstone </vt:lpstr>
      <vt:lpstr>Overview </vt:lpstr>
      <vt:lpstr>Data Sources</vt:lpstr>
      <vt:lpstr>Attributes Dropped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Next PhaseS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Tyler, Michael W</dc:creator>
  <cp:lastModifiedBy>Tyler, Michael W</cp:lastModifiedBy>
  <cp:revision>9</cp:revision>
  <dcterms:created xsi:type="dcterms:W3CDTF">2026-09-17T16:46:36Z</dcterms:created>
  <dcterms:modified xsi:type="dcterms:W3CDTF">2026-09-17T19:58:29Z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