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2" r:id="rId6"/>
    <p:sldId id="266" r:id="rId7"/>
    <p:sldId id="295" r:id="rId8"/>
    <p:sldId id="293" r:id="rId9"/>
    <p:sldId id="296" r:id="rId10"/>
    <p:sldId id="297" r:id="rId11"/>
    <p:sldId id="283" r:id="rId12"/>
    <p:sldId id="264" r:id="rId13"/>
    <p:sldId id="289" r:id="rId14"/>
    <p:sldId id="298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FA7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5388" autoAdjust="0"/>
  </p:normalViewPr>
  <p:slideViewPr>
    <p:cSldViewPr snapToGrid="0" showGuides="1">
      <p:cViewPr varScale="1">
        <p:scale>
          <a:sx n="114" d="100"/>
          <a:sy n="114" d="100"/>
        </p:scale>
        <p:origin x="378" y="114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23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85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3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909060"/>
            <a:ext cx="11265407" cy="2194624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US Life Expectancy Across US Counties After AGE 50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Michael Tyler</a:t>
            </a:r>
            <a:br>
              <a:rPr lang="en-US" dirty="0"/>
            </a:br>
            <a:r>
              <a:rPr lang="en-US" dirty="0"/>
              <a:t>DATA 606 – Data Science Capstone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/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7600" cy="970236"/>
          </a:xfrm>
        </p:spPr>
        <p:txBody>
          <a:bodyPr/>
          <a:lstStyle/>
          <a:p>
            <a:r>
              <a:rPr lang="en-US" dirty="0"/>
              <a:t>Overview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1342" y="1804524"/>
            <a:ext cx="3657600" cy="4487924"/>
          </a:xfrm>
        </p:spPr>
        <p:txBody>
          <a:bodyPr/>
          <a:lstStyle/>
          <a:p>
            <a:r>
              <a:rPr lang="en-US" dirty="0"/>
              <a:t>US Life Expectancy Lags behind other developed countries and varies by more than 20 years across US Counties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Which social, economic, behavioral, and healthcare factors predict county life expectancy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expectancy overall is studied well this will focus on Life Expectancy after age 50.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use five data sources that include 3079 Counties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" r="148"/>
          <a:stretch/>
        </p:blipFill>
        <p:spPr>
          <a:xfrm>
            <a:off x="6400799" y="640080"/>
            <a:ext cx="5333999" cy="5751576"/>
          </a:xfrm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70BA2A-9860-BB05-E49E-957A19AA3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712099"/>
            <a:ext cx="11292839" cy="851822"/>
          </a:xfrm>
        </p:spPr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4648B0-B50D-BC8A-9A2C-1FCD2A3B7E73}"/>
              </a:ext>
            </a:extLst>
          </p:cNvPr>
          <p:cNvSpPr txBox="1"/>
          <p:nvPr/>
        </p:nvSpPr>
        <p:spPr>
          <a:xfrm>
            <a:off x="679731" y="1650774"/>
            <a:ext cx="1116700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IHME County Life Expectancy Data File </a:t>
            </a:r>
            <a:r>
              <a:rPr lang="en-US" sz="1400" dirty="0"/>
              <a:t>(University of Washington):  The Institute for Health Metrics and Evaluation published life expectancy for each age group, sex, year, and racial-ethnic group.  We will use this for are over 50 age group and at birth group as a comparison.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County Health Rankings Analytic Data </a:t>
            </a:r>
            <a:r>
              <a:rPr lang="en-US" sz="1400" dirty="0"/>
              <a:t>(University of Wisconsin): Non-Census predictors: smoking, obesity, physical inactivity, excessive drinking, sleep, food environment, exercise access, uninsured adults, provider supply (primary care, dentists, mental health), preventable hospital stays, screening and flu vaccination by county.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Census American Community Survey:  </a:t>
            </a:r>
            <a:r>
              <a:rPr lang="en-US" sz="1400" dirty="0"/>
              <a:t>Standard for county socioeconomic data.  Includes data such as household income, income inequality home values, poverty, unemployment, educational level.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USDA ERS Rural-Urban Continuum Codes</a:t>
            </a:r>
            <a:r>
              <a:rPr lang="en-US" sz="1400" dirty="0"/>
              <a:t>:  Give a score from one to nine on the rurality of a county.  From Urban Center, Suburb to Extremely Rural. 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CMS Medicare Geographic Variation</a:t>
            </a:r>
            <a:r>
              <a:rPr lang="en-US" sz="1400" dirty="0"/>
              <a:t>: Has Medicare and Medicaid Spending per Beneficiary, Medicare Advantage enrollment rates, Emergency Room Visits etc.</a:t>
            </a: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4592318" cy="810462"/>
          </a:xfrm>
        </p:spPr>
        <p:txBody>
          <a:bodyPr/>
          <a:lstStyle/>
          <a:p>
            <a:r>
              <a:rPr lang="en-US" dirty="0"/>
              <a:t>Attributes Dropped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82E89-DB15-6D26-7098-DA9792B0B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274" y="3507199"/>
            <a:ext cx="3606800" cy="2271076"/>
          </a:xfrm>
        </p:spPr>
        <p:txBody>
          <a:bodyPr/>
          <a:lstStyle/>
          <a:p>
            <a:r>
              <a:rPr lang="en-US" b="1" dirty="0"/>
              <a:t>Not related to over</a:t>
            </a:r>
            <a:r>
              <a:rPr lang="en-US" sz="1600" b="1" dirty="0"/>
              <a:t> age 50</a:t>
            </a:r>
            <a:r>
              <a:rPr lang="en-US" sz="1600" dirty="0"/>
              <a:t>:</a:t>
            </a:r>
          </a:p>
          <a:p>
            <a:r>
              <a:rPr lang="en-US" sz="1600" dirty="0"/>
              <a:t>Low Birthweight, Teen </a:t>
            </a:r>
            <a:r>
              <a:rPr lang="en-US" dirty="0"/>
              <a:t>Births, Child Care Cost Burden, Child Care Centers, School Funding Adequacy, Reading Scores, Math Scores, School Segregation, Children Eligible for Free or Reduced-Price Lunch</a:t>
            </a:r>
          </a:p>
        </p:txBody>
      </p:sp>
      <p:pic>
        <p:nvPicPr>
          <p:cNvPr id="21" name="Picture Placeholder 20" descr="A person in a white coat with a stethoscope around her neck">
            <a:extLst>
              <a:ext uri="{FF2B5EF4-FFF2-40B4-BE49-F238E27FC236}">
                <a16:creationId xmlns:a16="http://schemas.microsoft.com/office/drawing/2014/main" id="{244AC564-6A07-A90A-B027-67CD2423BB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54" b="354"/>
          <a:stretch/>
        </p:blipFill>
        <p:spPr>
          <a:xfrm>
            <a:off x="5476672" y="650240"/>
            <a:ext cx="6278446" cy="571391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2B8FB2-A8F2-97F8-EEAD-7CEC016DA1D3}"/>
              </a:ext>
            </a:extLst>
          </p:cNvPr>
          <p:cNvSpPr txBox="1"/>
          <p:nvPr/>
        </p:nvSpPr>
        <p:spPr>
          <a:xfrm>
            <a:off x="647274" y="1610315"/>
            <a:ext cx="3107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Insufficient Data :</a:t>
            </a:r>
          </a:p>
          <a:p>
            <a:endParaRPr lang="en-US" dirty="0"/>
          </a:p>
          <a:p>
            <a:r>
              <a:rPr lang="en-US" dirty="0"/>
              <a:t>Disconnect Youth 37%</a:t>
            </a:r>
          </a:p>
          <a:p>
            <a:r>
              <a:rPr lang="en-US" dirty="0"/>
              <a:t>High School Graduation 75%</a:t>
            </a:r>
          </a:p>
          <a:p>
            <a:r>
              <a:rPr lang="en-US" dirty="0"/>
              <a:t>Juvenile Arrests 63%</a:t>
            </a:r>
          </a:p>
          <a:p>
            <a:r>
              <a:rPr lang="en-US" dirty="0"/>
              <a:t>Residential Segregation 67%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CC8329-5BE5-94B7-B5B2-CBC9BE1BE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151154"/>
              </p:ext>
            </p:extLst>
          </p:nvPr>
        </p:nvGraphicFramePr>
        <p:xfrm>
          <a:off x="748874" y="1095130"/>
          <a:ext cx="10694251" cy="2514600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1482285">
                  <a:extLst>
                    <a:ext uri="{9D8B030D-6E8A-4147-A177-3AD203B41FA5}">
                      <a16:colId xmlns:a16="http://schemas.microsoft.com/office/drawing/2014/main" val="222205744"/>
                    </a:ext>
                  </a:extLst>
                </a:gridCol>
                <a:gridCol w="1547021">
                  <a:extLst>
                    <a:ext uri="{9D8B030D-6E8A-4147-A177-3AD203B41FA5}">
                      <a16:colId xmlns:a16="http://schemas.microsoft.com/office/drawing/2014/main" val="2884448992"/>
                    </a:ext>
                  </a:extLst>
                </a:gridCol>
                <a:gridCol w="1254051">
                  <a:extLst>
                    <a:ext uri="{9D8B030D-6E8A-4147-A177-3AD203B41FA5}">
                      <a16:colId xmlns:a16="http://schemas.microsoft.com/office/drawing/2014/main" val="325255113"/>
                    </a:ext>
                  </a:extLst>
                </a:gridCol>
                <a:gridCol w="1839990">
                  <a:extLst>
                    <a:ext uri="{9D8B030D-6E8A-4147-A177-3AD203B41FA5}">
                      <a16:colId xmlns:a16="http://schemas.microsoft.com/office/drawing/2014/main" val="1798820538"/>
                    </a:ext>
                  </a:extLst>
                </a:gridCol>
                <a:gridCol w="1547021">
                  <a:extLst>
                    <a:ext uri="{9D8B030D-6E8A-4147-A177-3AD203B41FA5}">
                      <a16:colId xmlns:a16="http://schemas.microsoft.com/office/drawing/2014/main" val="1552982554"/>
                    </a:ext>
                  </a:extLst>
                </a:gridCol>
                <a:gridCol w="1547021">
                  <a:extLst>
                    <a:ext uri="{9D8B030D-6E8A-4147-A177-3AD203B41FA5}">
                      <a16:colId xmlns:a16="http://schemas.microsoft.com/office/drawing/2014/main" val="274195889"/>
                    </a:ext>
                  </a:extLst>
                </a:gridCol>
                <a:gridCol w="1476862">
                  <a:extLst>
                    <a:ext uri="{9D8B030D-6E8A-4147-A177-3AD203B41FA5}">
                      <a16:colId xmlns:a16="http://schemas.microsoft.com/office/drawing/2014/main" val="872822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County Name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State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Years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Males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</a:t>
                      </a:r>
                      <a:r>
                        <a:rPr lang="en-US" sz="900" dirty="0" err="1">
                          <a:effectLst/>
                        </a:rPr>
                        <a:t>Femails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Total Population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87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Summit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44.5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43.4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45.6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30649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318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Pitkin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43.8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42.1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45.4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17926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86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Eagle County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41.0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39.6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42.3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54681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95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San Miguel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39.2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37.8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40.7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8049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957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Collier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FL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36.2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371453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64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Aleutians West CA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AK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9083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81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Mono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CA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38.2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36.9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39.8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14310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257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Presidio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TX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37.9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36.1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6975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382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Teton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WY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37.9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37.1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38.7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23280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555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Haines Borough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AK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37.5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34.6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40.4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2518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9107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1629CA7-8082-E492-8DDD-91BDCC520145}"/>
              </a:ext>
            </a:extLst>
          </p:cNvPr>
          <p:cNvSpPr txBox="1"/>
          <p:nvPr/>
        </p:nvSpPr>
        <p:spPr>
          <a:xfrm>
            <a:off x="3147802" y="776835"/>
            <a:ext cx="534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Highest Life Expectancy Counties at 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1574E-C5E4-1F5E-FBBA-82F31C28BF46}"/>
              </a:ext>
            </a:extLst>
          </p:cNvPr>
          <p:cNvSpPr txBox="1"/>
          <p:nvPr/>
        </p:nvSpPr>
        <p:spPr>
          <a:xfrm>
            <a:off x="3281349" y="3590131"/>
            <a:ext cx="534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Lowest Life Expectancy Counties at 50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D861EA5-3C02-F16A-5DE5-19A2F9A5D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8906"/>
              </p:ext>
            </p:extLst>
          </p:nvPr>
        </p:nvGraphicFramePr>
        <p:xfrm>
          <a:off x="768743" y="4032955"/>
          <a:ext cx="10862096" cy="2514600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1551728">
                  <a:extLst>
                    <a:ext uri="{9D8B030D-6E8A-4147-A177-3AD203B41FA5}">
                      <a16:colId xmlns:a16="http://schemas.microsoft.com/office/drawing/2014/main" val="995544900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4132175979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4148334125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3787044071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1209067471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4145849350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52935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County Name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State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Years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Males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</a:t>
                      </a:r>
                      <a:r>
                        <a:rPr lang="en-US" sz="900" dirty="0" err="1">
                          <a:effectLst/>
                        </a:rPr>
                        <a:t>Femails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Total Population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32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Martinsville city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VA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20.8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12852.0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20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Union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FL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20.3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29.7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15303.0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201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Galax city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VA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21.5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26.6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6517.0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17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Perry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26624.0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32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Shannon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SD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21.5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14335.0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4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Petersburg city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VA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31362.0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99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Harlan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26699.0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95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Leslie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10283.0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56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Powell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12304.0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296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Clay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20368.0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11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EEE756-24CE-45BF-ED3B-BCDD84D78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60529"/>
              </p:ext>
            </p:extLst>
          </p:nvPr>
        </p:nvGraphicFramePr>
        <p:xfrm>
          <a:off x="485522" y="1132438"/>
          <a:ext cx="5610478" cy="292608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792359">
                  <a:extLst>
                    <a:ext uri="{9D8B030D-6E8A-4147-A177-3AD203B41FA5}">
                      <a16:colId xmlns:a16="http://schemas.microsoft.com/office/drawing/2014/main" val="3135967296"/>
                    </a:ext>
                  </a:extLst>
                </a:gridCol>
                <a:gridCol w="2818119">
                  <a:extLst>
                    <a:ext uri="{9D8B030D-6E8A-4147-A177-3AD203B41FA5}">
                      <a16:colId xmlns:a16="http://schemas.microsoft.com/office/drawing/2014/main" val="2682277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05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chr_adult_smoking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who smoke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26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chr_adult_obesity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with BMI ≥ 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41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chr_physical_inactivity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of adults reporting no leisure-time physical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3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chr_excessive_drinking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reporting binge or heavy drinking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05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chr_insufficient_sleep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sleeping under 7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0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chr_food_environment_index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Index (0–10) of food access and food insecurity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223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chr_access_to_exercise_opportunities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with access to places for physical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7594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E9B6B24-E071-B681-EB9F-E2018A5EA43F}"/>
              </a:ext>
            </a:extLst>
          </p:cNvPr>
          <p:cNvSpPr txBox="1"/>
          <p:nvPr/>
        </p:nvSpPr>
        <p:spPr>
          <a:xfrm>
            <a:off x="793019" y="623087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 Features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3711D8-6B31-6E5E-F96F-CF2003DB2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8742"/>
              </p:ext>
            </p:extLst>
          </p:nvPr>
        </p:nvGraphicFramePr>
        <p:xfrm>
          <a:off x="6505996" y="1132438"/>
          <a:ext cx="4643443" cy="4272907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1996794">
                  <a:extLst>
                    <a:ext uri="{9D8B030D-6E8A-4147-A177-3AD203B41FA5}">
                      <a16:colId xmlns:a16="http://schemas.microsoft.com/office/drawing/2014/main" val="2370584370"/>
                    </a:ext>
                  </a:extLst>
                </a:gridCol>
                <a:gridCol w="2646649">
                  <a:extLst>
                    <a:ext uri="{9D8B030D-6E8A-4147-A177-3AD203B41FA5}">
                      <a16:colId xmlns:a16="http://schemas.microsoft.com/office/drawing/2014/main" val="3634331433"/>
                    </a:ext>
                  </a:extLst>
                </a:gridCol>
              </a:tblGrid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70247" marR="70247" marT="35123" marB="35123" anchor="ctr">
                    <a:solidFill>
                      <a:srgbClr val="4653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70247" marR="70247" marT="35123" marB="35123" anchor="ctr">
                    <a:solidFill>
                      <a:srgbClr val="465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71627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chr_uninsured_adults</a:t>
                      </a:r>
                      <a:endParaRPr lang="en-US" sz="1200" dirty="0"/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of adults under 65 without insurance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664406618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chr_primary_care_physicians</a:t>
                      </a:r>
                      <a:endParaRPr lang="en-US" sz="1200" dirty="0"/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Primary care physicians per population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65518827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chr_mental_health_providers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Mental health providers per population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119043471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chr_dentists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Dentists per population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97134192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chr_preventable_hospital_stays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Hospital stays for conditions treatable in outpatient care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73257071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chr_mammography_screening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female Medicare enrollees screened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1489681485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chr_flu_vaccinations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Medicare enrollees vaccinated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89444195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cms_std_spending_per_capita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Standardized Medicare spending per beneficiary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869153597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cms_pct_dual_eligible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beneficiaries also eligible for Medicaid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98241328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cms_ma_participation_rate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Medicare Advantage participation rate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525720682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cms_er_visits_per_1000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ER visits per 1,000 beneficiaries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1214668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cms_readmission_pct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30-day hospital readmission rate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14654412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C38CB76-02E0-8642-5BA1-D22CF41DB461}"/>
              </a:ext>
            </a:extLst>
          </p:cNvPr>
          <p:cNvSpPr txBox="1"/>
          <p:nvPr/>
        </p:nvSpPr>
        <p:spPr>
          <a:xfrm>
            <a:off x="6570733" y="623087"/>
            <a:ext cx="234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 Access Features</a:t>
            </a:r>
          </a:p>
        </p:txBody>
      </p:sp>
    </p:spTree>
    <p:extLst>
      <p:ext uri="{BB962C8B-B14F-4D97-AF65-F5344CB8AC3E}">
        <p14:creationId xmlns:p14="http://schemas.microsoft.com/office/powerpoint/2010/main" val="257127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060260-6C6C-8050-E22C-CE3D1729C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110025"/>
              </p:ext>
            </p:extLst>
          </p:nvPr>
        </p:nvGraphicFramePr>
        <p:xfrm>
          <a:off x="445062" y="1105764"/>
          <a:ext cx="5510676" cy="3860391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2721592">
                  <a:extLst>
                    <a:ext uri="{9D8B030D-6E8A-4147-A177-3AD203B41FA5}">
                      <a16:colId xmlns:a16="http://schemas.microsoft.com/office/drawing/2014/main" val="1101042904"/>
                    </a:ext>
                  </a:extLst>
                </a:gridCol>
                <a:gridCol w="2789084">
                  <a:extLst>
                    <a:ext uri="{9D8B030D-6E8A-4147-A177-3AD203B41FA5}">
                      <a16:colId xmlns:a16="http://schemas.microsoft.com/office/drawing/2014/main" val="3379444241"/>
                    </a:ext>
                  </a:extLst>
                </a:gridCol>
              </a:tblGrid>
              <a:tr h="33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Feature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695489"/>
                  </a:ext>
                </a:extLst>
              </a:tr>
              <a:tr h="577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chr_air_pollution_particulate_matter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Average daily PM2.5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598031"/>
                  </a:ext>
                </a:extLst>
              </a:tr>
              <a:tr h="616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chr_severe_housing_problems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% of households with overcrowding, high costs, or poor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049186"/>
                  </a:ext>
                </a:extLst>
              </a:tr>
              <a:tr h="616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chr_long_commute_driving_alone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% of solo commuters driving more than 30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639057"/>
                  </a:ext>
                </a:extLst>
              </a:tr>
              <a:tr h="613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chr_drinking_water_violations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Whether a water violation was reported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9721"/>
                  </a:ext>
                </a:extLst>
              </a:tr>
              <a:tr h="577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chr_pct_rural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% of the population living in rural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211441"/>
                  </a:ext>
                </a:extLst>
              </a:tr>
              <a:tr h="415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rucc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Rural-Urban Continuum Code (1 = large metro, 9 = remote rural)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48131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39C5EB-155D-97B0-474E-0A2BB63F7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1840"/>
              </p:ext>
            </p:extLst>
          </p:nvPr>
        </p:nvGraphicFramePr>
        <p:xfrm>
          <a:off x="6416985" y="1105764"/>
          <a:ext cx="5033246" cy="2754140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2491035">
                  <a:extLst>
                    <a:ext uri="{9D8B030D-6E8A-4147-A177-3AD203B41FA5}">
                      <a16:colId xmlns:a16="http://schemas.microsoft.com/office/drawing/2014/main" val="2724014596"/>
                    </a:ext>
                  </a:extLst>
                </a:gridCol>
                <a:gridCol w="2542211">
                  <a:extLst>
                    <a:ext uri="{9D8B030D-6E8A-4147-A177-3AD203B41FA5}">
                      <a16:colId xmlns:a16="http://schemas.microsoft.com/office/drawing/2014/main" val="934923140"/>
                    </a:ext>
                  </a:extLst>
                </a:gridCol>
              </a:tblGrid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Feature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Description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050124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chr_pct_65_and_older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the population age 65+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891188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chr_pct_female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the population that is 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844704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acs_pct_nh_black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non-Hispanic Black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36118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acs_pct_hispanic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Hispanic or Latino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205728"/>
                  </a:ext>
                </a:extLst>
              </a:tr>
              <a:tr h="474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acs_pct_nh_aian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non-Hispanic American Indian/Alaska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559285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acs_pct_nh_asian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non-Hispanic 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753378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acs_pct_foreign_born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foreign born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076556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acs_log_pop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Log of total population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889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565329-C9D5-8F51-A279-ABAAE9F6D9B8}"/>
              </a:ext>
            </a:extLst>
          </p:cNvPr>
          <p:cNvSpPr txBox="1"/>
          <p:nvPr/>
        </p:nvSpPr>
        <p:spPr>
          <a:xfrm>
            <a:off x="647363" y="694908"/>
            <a:ext cx="436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Environment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BAA34-A58F-2F60-1111-E25BB1C6A4CF}"/>
              </a:ext>
            </a:extLst>
          </p:cNvPr>
          <p:cNvSpPr txBox="1"/>
          <p:nvPr/>
        </p:nvSpPr>
        <p:spPr>
          <a:xfrm>
            <a:off x="6546457" y="653441"/>
            <a:ext cx="377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Demographic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D7F1D-0507-F723-DF29-2EC422619C8D}"/>
              </a:ext>
            </a:extLst>
          </p:cNvPr>
          <p:cNvSpPr txBox="1"/>
          <p:nvPr/>
        </p:nvSpPr>
        <p:spPr>
          <a:xfrm>
            <a:off x="6732574" y="4357730"/>
            <a:ext cx="32267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Additional Possible Features:  </a:t>
            </a:r>
          </a:p>
          <a:p>
            <a:r>
              <a:rPr lang="en-US" dirty="0" err="1"/>
              <a:t>chr_poor_or_fair_health</a:t>
            </a:r>
            <a:r>
              <a:rPr lang="en-US" dirty="0"/>
              <a:t>, </a:t>
            </a:r>
          </a:p>
          <a:p>
            <a:r>
              <a:rPr lang="en-US" dirty="0" err="1"/>
              <a:t>chr_poor_physical_health_days</a:t>
            </a:r>
            <a:r>
              <a:rPr lang="en-US" dirty="0"/>
              <a:t>, </a:t>
            </a:r>
          </a:p>
          <a:p>
            <a:r>
              <a:rPr lang="en-US" dirty="0" err="1"/>
              <a:t>chr_poor_mental_health_days</a:t>
            </a:r>
            <a:r>
              <a:rPr lang="en-US" dirty="0"/>
              <a:t>, </a:t>
            </a:r>
          </a:p>
          <a:p>
            <a:r>
              <a:rPr lang="en-US" dirty="0" err="1"/>
              <a:t>chr_frequent_physical_distress</a:t>
            </a:r>
            <a:r>
              <a:rPr lang="en-US" dirty="0"/>
              <a:t>, </a:t>
            </a:r>
          </a:p>
          <a:p>
            <a:r>
              <a:rPr lang="en-US" dirty="0" err="1"/>
              <a:t>chr_frequent_mental_distress</a:t>
            </a:r>
            <a:r>
              <a:rPr lang="en-US" dirty="0"/>
              <a:t>, </a:t>
            </a:r>
          </a:p>
          <a:p>
            <a:r>
              <a:rPr lang="en-US" dirty="0" err="1"/>
              <a:t>chr_diabetes_prevalence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6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07F3B4-2129-BE29-0166-56DD8FD20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45" y="1259523"/>
            <a:ext cx="9669293" cy="534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DA5EA1-3C38-35D0-0DBA-97043A89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85" y="1175657"/>
            <a:ext cx="9345329" cy="478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83D25A7-65DC-2846-4752-97FEDC0CC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324" y="857250"/>
            <a:ext cx="863410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05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276933-85E7-7E12-7E31-D32532F0B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3" y="1204617"/>
            <a:ext cx="11151368" cy="431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7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715DBBC-70C2-E94B-9B03-12910F0B5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</a:t>
            </a:r>
            <a:r>
              <a:rPr lang="en-US" dirty="0" err="1"/>
              <a:t>PhaseS</a:t>
            </a:r>
            <a:endParaRPr lang="en-US" dirty="0"/>
          </a:p>
        </p:txBody>
      </p:sp>
      <p:pic>
        <p:nvPicPr>
          <p:cNvPr id="21" name="Picture Placeholder 20" descr="Two people smiling while holding coffee">
            <a:extLst>
              <a:ext uri="{FF2B5EF4-FFF2-40B4-BE49-F238E27FC236}">
                <a16:creationId xmlns:a16="http://schemas.microsoft.com/office/drawing/2014/main" id="{75E7485A-FBCC-4222-2274-2B2A0804BC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8" r="38"/>
          <a:stretch/>
        </p:blipFill>
        <p:spPr/>
      </p:pic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3AEB1C4-FB60-9B8E-5A02-0BCD2B6E5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Pick final list of metrics based on correlation results.  </a:t>
            </a:r>
          </a:p>
          <a:p>
            <a:r>
              <a:rPr lang="en-US" dirty="0"/>
              <a:t>Potentially add new data sources: IRS migration data. BLS QCEW – Show occupation level data, Opportunity Insights Social Capital Atlas – how much low and high income residents interact.</a:t>
            </a:r>
          </a:p>
          <a:p>
            <a:r>
              <a:rPr lang="en-US" dirty="0"/>
              <a:t>Run multiple models.  </a:t>
            </a:r>
          </a:p>
          <a:p>
            <a:r>
              <a:rPr lang="en-US" dirty="0"/>
              <a:t>Create Website with map with counties selectable.  Provide details of each county when selected.  Things that are red warnings that could be causing higher than norm of life expectancy.</a:t>
            </a:r>
          </a:p>
          <a:p>
            <a:r>
              <a:rPr lang="en-US" dirty="0"/>
              <a:t>Comparison to total life expectancy metrics.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{8A554192-FCEB-489F-8E52-FEC3E5D13A38}TF44327b14-72fa-4a42-8e82-8afcf10927fa9096c001_win32-283260f3ca19</Template>
  <TotalTime>1316</TotalTime>
  <Words>1103</Words>
  <Application>Microsoft Office PowerPoint</Application>
  <PresentationFormat>Widescreen</PresentationFormat>
  <Paragraphs>261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Helvetica Neue</vt:lpstr>
      <vt:lpstr>Wingdings 2</vt:lpstr>
      <vt:lpstr>DividendVTI</vt:lpstr>
      <vt:lpstr>  US Life Expectancy Across US Counties After AGE 50  Michael Tyler DATA 606 – Data Science Capstone </vt:lpstr>
      <vt:lpstr>Overview </vt:lpstr>
      <vt:lpstr>Data Sources</vt:lpstr>
      <vt:lpstr>Attributes Dropped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PhaseS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Tyler, Michael W</dc:creator>
  <cp:lastModifiedBy>Tyler, Michael W</cp:lastModifiedBy>
  <cp:revision>11</cp:revision>
  <dcterms:created xsi:type="dcterms:W3CDTF">2026-09-17T16:46:36Z</dcterms:created>
  <dcterms:modified xsi:type="dcterms:W3CDTF">2026-10-29T18:51:55Z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